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5" r:id="rId3"/>
    <p:sldId id="273" r:id="rId4"/>
    <p:sldId id="270" r:id="rId5"/>
    <p:sldId id="269" r:id="rId6"/>
    <p:sldId id="268" r:id="rId7"/>
    <p:sldId id="266" r:id="rId8"/>
    <p:sldId id="264" r:id="rId9"/>
    <p:sldId id="271" r:id="rId10"/>
    <p:sldId id="259" r:id="rId11"/>
    <p:sldId id="272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24D0F0-5DC0-9D45-8F70-8A2A4FC84E10}" v="184" dt="2025-07-07T14:01:47.7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4799"/>
  </p:normalViewPr>
  <p:slideViewPr>
    <p:cSldViewPr snapToGrid="0">
      <p:cViewPr varScale="1">
        <p:scale>
          <a:sx n="119" d="100"/>
          <a:sy n="119" d="100"/>
        </p:scale>
        <p:origin x="3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4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9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94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268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1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77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12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3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98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473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0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2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819FF7-2786-7C6E-6E85-87CE599A3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29" y="330649"/>
            <a:ext cx="9144000" cy="556305"/>
          </a:xfrm>
        </p:spPr>
        <p:txBody>
          <a:bodyPr/>
          <a:lstStyle/>
          <a:p>
            <a:r>
              <a:rPr lang="en-US" b="1" dirty="0"/>
              <a:t>Research Update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97E50-3E34-086E-A421-627BB316D48C}"/>
              </a:ext>
            </a:extLst>
          </p:cNvPr>
          <p:cNvSpPr txBox="1"/>
          <p:nvPr/>
        </p:nvSpPr>
        <p:spPr>
          <a:xfrm>
            <a:off x="598714" y="1774373"/>
            <a:ext cx="8741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Objective:</a:t>
            </a:r>
          </a:p>
          <a:p>
            <a:r>
              <a:rPr lang="en-US" dirty="0"/>
              <a:t>To assess whether induced conditions lead to statistically significant changes in the </a:t>
            </a:r>
            <a:r>
              <a:rPr lang="en-US" b="1" dirty="0"/>
              <a:t>karyotype profile</a:t>
            </a:r>
            <a:r>
              <a:rPr lang="en-US" dirty="0"/>
              <a:t> (chromosome copy number across V1–V22) of clones. Each </a:t>
            </a:r>
            <a:r>
              <a:rPr lang="en-US" dirty="0" err="1"/>
              <a:t>cloneID</a:t>
            </a:r>
            <a:r>
              <a:rPr lang="en-US" dirty="0"/>
              <a:t> has a known group assignment and represents a unique observation.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9D2FA-D050-03D8-ACF8-AA90B21C9703}"/>
              </a:ext>
            </a:extLst>
          </p:cNvPr>
          <p:cNvSpPr txBox="1"/>
          <p:nvPr/>
        </p:nvSpPr>
        <p:spPr>
          <a:xfrm>
            <a:off x="685800" y="3309257"/>
            <a:ext cx="77179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Method:</a:t>
            </a:r>
            <a:br>
              <a:rPr lang="en-US" b="1" dirty="0"/>
            </a:br>
            <a:r>
              <a:rPr lang="en-US" b="1" dirty="0"/>
              <a:t>- </a:t>
            </a:r>
            <a:r>
              <a:rPr lang="en-US" dirty="0"/>
              <a:t>Permutational Multivariate Analysis of Variance (PERMANOVA)</a:t>
            </a:r>
          </a:p>
          <a:p>
            <a:r>
              <a:rPr lang="en-US" dirty="0"/>
              <a:t>- GLMM</a:t>
            </a:r>
            <a:br>
              <a:rPr lang="en-US" dirty="0"/>
            </a:br>
            <a:r>
              <a:rPr lang="en-US" dirty="0"/>
              <a:t>- </a:t>
            </a:r>
            <a:r>
              <a:rPr lang="en-US"/>
              <a:t>Mechanistic Modeling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71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F0F30-19B7-AF5D-E2A2-0CF660629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CE805-6490-80FE-B5D0-6F889B537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3012315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Heatmaps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F3E9D-4066-D5AD-5EE5-DF7212CC4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41" y="134344"/>
            <a:ext cx="5725092" cy="475943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FA59CC-58D0-9755-9C91-C92A85E82168}"/>
              </a:ext>
            </a:extLst>
          </p:cNvPr>
          <p:cNvSpPr txBox="1">
            <a:spLocks/>
          </p:cNvSpPr>
          <p:nvPr/>
        </p:nvSpPr>
        <p:spPr>
          <a:xfrm>
            <a:off x="186841" y="5721068"/>
            <a:ext cx="4482141" cy="1064009"/>
          </a:xfrm>
          <a:prstGeom prst="rect">
            <a:avLst/>
          </a:prstGeom>
        </p:spPr>
        <p:txBody>
          <a:bodyPr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/>
              <a:t>Note: </a:t>
            </a:r>
            <a:r>
              <a:rPr lang="en-US" sz="1100" dirty="0"/>
              <a:t>Cell-Level PERMANOVA without Collapsing Replicates because:</a:t>
            </a:r>
          </a:p>
          <a:p>
            <a:pPr marL="0" indent="0">
              <a:buNone/>
            </a:pPr>
            <a:r>
              <a:rPr lang="en-US" sz="1100" dirty="0"/>
              <a:t>1. I am studying how treatment affects individual cells' karyotypes.</a:t>
            </a:r>
          </a:p>
          <a:p>
            <a:pPr marL="0" indent="0">
              <a:buNone/>
            </a:pPr>
            <a:r>
              <a:rPr lang="en-US" sz="1100" dirty="0"/>
              <a:t>2. Each row represents a unique cell, preserving biological variability within flasks.</a:t>
            </a:r>
          </a:p>
          <a:p>
            <a:pPr marL="0" indent="0">
              <a:buNone/>
            </a:pPr>
            <a:r>
              <a:rPr lang="en-US" sz="1100" dirty="0"/>
              <a:t>3. I stratify by line, so that permutations are done within each cell line.</a:t>
            </a:r>
          </a:p>
          <a:p>
            <a:pPr marL="0" indent="0">
              <a:buNone/>
            </a:pPr>
            <a:r>
              <a:rPr lang="en-US" sz="1100" dirty="0"/>
              <a:t>4. So that I can retain statistical power, because you are using all the data (not just averages).</a:t>
            </a:r>
          </a:p>
        </p:txBody>
      </p:sp>
    </p:spTree>
    <p:extLst>
      <p:ext uri="{BB962C8B-B14F-4D97-AF65-F5344CB8AC3E}">
        <p14:creationId xmlns:p14="http://schemas.microsoft.com/office/powerpoint/2010/main" val="426211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3148E-DBA5-D01F-6C1F-B42E152D7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93B70-92E5-B237-3558-8897E6086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3012315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Heatmaps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63E19C-CD5D-74EA-EF84-E47BC31E6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41" y="134344"/>
            <a:ext cx="5725092" cy="4759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1DC76D-6D11-2F92-5868-E19AC1022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067" y="0"/>
            <a:ext cx="5725092" cy="4786901"/>
          </a:xfrm>
          <a:prstGeom prst="rect">
            <a:avLst/>
          </a:prstGeom>
        </p:spPr>
      </p:pic>
      <p:pic>
        <p:nvPicPr>
          <p:cNvPr id="10" name="Picture 9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2FF757E5-B777-2A1A-61FF-93AA7789D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926" y="4996543"/>
            <a:ext cx="2120014" cy="7837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A97816-C08E-B293-56A2-18567EE3C0F3}"/>
                  </a:ext>
                </a:extLst>
              </p:cNvPr>
              <p:cNvSpPr txBox="1"/>
              <p:nvPr/>
            </p:nvSpPr>
            <p:spPr>
              <a:xfrm>
                <a:off x="6433457" y="4996543"/>
                <a:ext cx="5571702" cy="1064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sz="1000" b="1" i="1" smtClean="0">
                              <a:latin typeface="Cambria Math" panose="02040503050406030204" pitchFamily="18" charset="0"/>
                            </a:rPr>
                            <m:t>𝑰𝑱</m:t>
                          </m:r>
                        </m:sub>
                      </m:sSub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000"/>
                        <m:t>Z</m:t>
                      </m:r>
                      <m:r>
                        <m:rPr>
                          <m:nor/>
                        </m:rPr>
                        <a:rPr lang="en-US" sz="1000"/>
                        <m:t>−</m:t>
                      </m:r>
                      <m:r>
                        <m:rPr>
                          <m:nor/>
                        </m:rPr>
                        <a:rPr lang="en-US" sz="1000"/>
                        <m:t>score</m:t>
                      </m:r>
                      <m:r>
                        <m:rPr>
                          <m:nor/>
                        </m:rPr>
                        <a:rPr lang="en-US" sz="1000"/>
                        <m:t> </m:t>
                      </m:r>
                      <m:r>
                        <m:rPr>
                          <m:nor/>
                        </m:rPr>
                        <a:rPr lang="en-US" sz="1000"/>
                        <m:t>of</m:t>
                      </m:r>
                      <m:r>
                        <m:rPr>
                          <m:nor/>
                        </m:rPr>
                        <a:rPr lang="en-US" sz="1000"/>
                        <m:t> </m:t>
                      </m:r>
                      <m:r>
                        <m:rPr>
                          <m:nor/>
                        </m:rPr>
                        <a:rPr lang="en-US" sz="1000"/>
                        <m:t>the</m:t>
                      </m:r>
                      <m:r>
                        <m:rPr>
                          <m:nor/>
                        </m:rPr>
                        <a:rPr lang="en-US" sz="1000"/>
                        <m:t> </m:t>
                      </m:r>
                      <m:r>
                        <m:rPr>
                          <m:nor/>
                        </m:rPr>
                        <a:rPr lang="en-US" sz="1000"/>
                        <m:t>i</m:t>
                      </m:r>
                      <m:r>
                        <m:rPr>
                          <m:nor/>
                        </m:rPr>
                        <a:rPr lang="en-US" sz="1000"/>
                        <m:t>−</m:t>
                      </m:r>
                      <m:r>
                        <m:rPr>
                          <m:nor/>
                        </m:rPr>
                        <a:rPr lang="en-US" sz="1000"/>
                        <m:t>th</m:t>
                      </m:r>
                      <m:r>
                        <m:rPr>
                          <m:nor/>
                        </m:rPr>
                        <a:rPr lang="en-US" sz="1000"/>
                        <m:t> </m:t>
                      </m:r>
                      <m:r>
                        <m:rPr>
                          <m:nor/>
                        </m:rPr>
                        <a:rPr lang="en-US" sz="1000"/>
                        <m:t>observation</m:t>
                      </m:r>
                      <m:r>
                        <m:rPr>
                          <m:nor/>
                        </m:rPr>
                        <a:rPr lang="en-US" sz="1000"/>
                        <m:t> (</m:t>
                      </m:r>
                      <m:r>
                        <m:rPr>
                          <m:nor/>
                        </m:rPr>
                        <a:rPr lang="en-US" sz="1000"/>
                        <m:t>cell</m:t>
                      </m:r>
                      <m:r>
                        <m:rPr>
                          <m:nor/>
                        </m:rPr>
                        <a:rPr lang="en-US" sz="1000"/>
                        <m:t>/</m:t>
                      </m:r>
                      <m:r>
                        <m:rPr>
                          <m:nor/>
                        </m:rPr>
                        <a:rPr lang="en-US" sz="1000"/>
                        <m:t>cloneID</m:t>
                      </m:r>
                      <m:r>
                        <m:rPr>
                          <m:nor/>
                        </m:rPr>
                        <a:rPr lang="en-US" sz="1000"/>
                        <m:t>) </m:t>
                      </m:r>
                      <m:r>
                        <m:rPr>
                          <m:nor/>
                        </m:rPr>
                        <a:rPr lang="en-US" sz="1000"/>
                        <m:t>for</m:t>
                      </m:r>
                      <m:r>
                        <m:rPr>
                          <m:nor/>
                        </m:rPr>
                        <a:rPr lang="en-US" sz="1000"/>
                        <m:t> </m:t>
                      </m:r>
                      <m:r>
                        <m:rPr>
                          <m:nor/>
                        </m:rPr>
                        <a:rPr lang="en-US" sz="1000"/>
                        <m:t>the</m:t>
                      </m:r>
                      <m:r>
                        <m:rPr>
                          <m:nor/>
                        </m:rPr>
                        <a:rPr lang="en-US" sz="1000"/>
                        <m:t> </m:t>
                      </m:r>
                      <m:r>
                        <m:rPr>
                          <m:nor/>
                        </m:rPr>
                        <a:rPr lang="en-US" sz="1000"/>
                        <m:t>j</m:t>
                      </m:r>
                      <m:r>
                        <m:rPr>
                          <m:nor/>
                        </m:rPr>
                        <a:rPr lang="en-US" sz="1000"/>
                        <m:t>−</m:t>
                      </m:r>
                      <m:r>
                        <m:rPr>
                          <m:nor/>
                        </m:rPr>
                        <a:rPr lang="en-US" sz="1000"/>
                        <m:t>th</m:t>
                      </m:r>
                      <m:r>
                        <m:rPr>
                          <m:nor/>
                        </m:rPr>
                        <a:rPr lang="en-US" sz="1000"/>
                        <m:t> </m:t>
                      </m:r>
                      <m:r>
                        <m:rPr>
                          <m:nor/>
                        </m:rPr>
                        <a:rPr lang="en-US" sz="1000"/>
                        <m:t>chromosome</m:t>
                      </m:r>
                      <m:r>
                        <m:rPr>
                          <m:nor/>
                        </m:rPr>
                        <a:rPr lang="en-US" sz="1000" b="0" i="0" smtClean="0"/>
                        <m:t>.</m:t>
                      </m:r>
                    </m:oMath>
                  </m:oMathPara>
                </a14:m>
                <a:endParaRPr lang="en-US" sz="1000" dirty="0"/>
              </a:p>
              <a:p>
                <a:r>
                  <a:rPr lang="en-US" sz="1000" dirty="0"/>
                  <a:t>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1000" b="1" i="1">
                            <a:latin typeface="Cambria Math" panose="02040503050406030204" pitchFamily="18" charset="0"/>
                          </a:rPr>
                          <m:t>𝑰𝑱</m:t>
                        </m:r>
                      </m:sub>
                    </m:sSub>
                    <m:r>
                      <a:rPr lang="en-US" sz="1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000"/>
                      <m:t>Original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copy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number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value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of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the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i</m:t>
                    </m:r>
                    <m:r>
                      <m:rPr>
                        <m:nor/>
                      </m:rPr>
                      <a:rPr lang="en-US" sz="1000"/>
                      <m:t>−</m:t>
                    </m:r>
                    <m:r>
                      <m:rPr>
                        <m:nor/>
                      </m:rPr>
                      <a:rPr lang="en-US" sz="1000"/>
                      <m:t>th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observation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for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the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j</m:t>
                    </m:r>
                    <m:r>
                      <m:rPr>
                        <m:nor/>
                      </m:rPr>
                      <a:rPr lang="en-US" sz="1000"/>
                      <m:t>−</m:t>
                    </m:r>
                    <m:r>
                      <m:rPr>
                        <m:nor/>
                      </m:rPr>
                      <a:rPr lang="en-US" sz="1000"/>
                      <m:t>th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chromosome</m:t>
                    </m:r>
                    <m:r>
                      <m:rPr>
                        <m:nor/>
                      </m:rPr>
                      <a:rPr lang="en-US" sz="1000" b="0" i="0" smtClean="0"/>
                      <m:t>.</m:t>
                    </m:r>
                  </m:oMath>
                </a14:m>
                <a:endParaRPr lang="en-US" sz="1000" dirty="0"/>
              </a:p>
              <a:p>
                <a:r>
                  <a:rPr lang="en-US" sz="1000" dirty="0"/>
                  <a:t>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000"/>
                      <m:t>Mean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copy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number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of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chromosome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j</m:t>
                    </m:r>
                    <m:r>
                      <m:rPr>
                        <m:nor/>
                      </m:rPr>
                      <a:rPr lang="en-US" sz="1000" b="0" i="0" smtClean="0"/>
                      <m:t>−</m:t>
                    </m:r>
                    <m:r>
                      <m:rPr>
                        <m:nor/>
                      </m:rPr>
                      <a:rPr lang="en-US" sz="1000" b="0" i="0" smtClean="0"/>
                      <m:t>th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across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all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cells</m:t>
                    </m:r>
                    <m:r>
                      <m:rPr>
                        <m:nor/>
                      </m:rPr>
                      <a:rPr lang="en-US" sz="1000" b="0" i="0" smtClean="0"/>
                      <m:t>.</m:t>
                    </m:r>
                  </m:oMath>
                </a14:m>
                <a:endParaRPr lang="en-US" sz="1000" dirty="0"/>
              </a:p>
              <a:p>
                <a:r>
                  <a:rPr lang="en-US" sz="1000" dirty="0"/>
                  <a:t>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000"/>
                      <m:t>Standard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deviation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of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copy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number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of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chromosome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j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across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all</m:t>
                    </m:r>
                    <m:r>
                      <m:rPr>
                        <m:nor/>
                      </m:rPr>
                      <a:rPr lang="en-US" sz="1000"/>
                      <m:t> </m:t>
                    </m:r>
                    <m:r>
                      <m:rPr>
                        <m:nor/>
                      </m:rPr>
                      <a:rPr lang="en-US" sz="1000"/>
                      <m:t>cells</m:t>
                    </m:r>
                  </m:oMath>
                </a14:m>
                <a:r>
                  <a:rPr lang="en-US" sz="1000" dirty="0"/>
                  <a:t>.</a:t>
                </a:r>
              </a:p>
              <a:p>
                <a:endParaRPr lang="en-US" sz="1000" dirty="0"/>
              </a:p>
              <a:p>
                <a:endParaRPr lang="en-US" sz="1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A97816-C08E-B293-56A2-18567EE3C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457" y="4996543"/>
                <a:ext cx="5571702" cy="10640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B0EF88-878B-FE2D-0A6F-CC204AE309B4}"/>
              </a:ext>
            </a:extLst>
          </p:cNvPr>
          <p:cNvSpPr txBox="1">
            <a:spLocks/>
          </p:cNvSpPr>
          <p:nvPr/>
        </p:nvSpPr>
        <p:spPr>
          <a:xfrm>
            <a:off x="186841" y="5721068"/>
            <a:ext cx="4482141" cy="1064009"/>
          </a:xfrm>
          <a:prstGeom prst="rect">
            <a:avLst/>
          </a:prstGeom>
        </p:spPr>
        <p:txBody>
          <a:bodyPr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/>
              <a:t>Note: </a:t>
            </a:r>
            <a:r>
              <a:rPr lang="en-US" sz="1100" dirty="0"/>
              <a:t>Cell-Level PERMANOVA without Collapsing Replicates because:</a:t>
            </a:r>
          </a:p>
          <a:p>
            <a:pPr marL="0" indent="0">
              <a:buNone/>
            </a:pPr>
            <a:r>
              <a:rPr lang="en-US" sz="1100" dirty="0"/>
              <a:t>1. I am studying how treatment affects individual cells' karyotypes.</a:t>
            </a:r>
          </a:p>
          <a:p>
            <a:pPr marL="0" indent="0">
              <a:buNone/>
            </a:pPr>
            <a:r>
              <a:rPr lang="en-US" sz="1100" dirty="0"/>
              <a:t>2. Each row represents a unique cell, preserving biological variability within flasks.</a:t>
            </a:r>
          </a:p>
          <a:p>
            <a:pPr marL="0" indent="0">
              <a:buNone/>
            </a:pPr>
            <a:r>
              <a:rPr lang="en-US" sz="1100" dirty="0"/>
              <a:t>3. I stratify by line, so that permutations are done within each cell line.</a:t>
            </a:r>
          </a:p>
          <a:p>
            <a:pPr marL="0" indent="0">
              <a:buNone/>
            </a:pPr>
            <a:r>
              <a:rPr lang="en-US" sz="1100" dirty="0"/>
              <a:t>4. So that I can retain statistical power, because you are using all the data (not just averages).</a:t>
            </a:r>
          </a:p>
        </p:txBody>
      </p:sp>
    </p:spTree>
    <p:extLst>
      <p:ext uri="{BB962C8B-B14F-4D97-AF65-F5344CB8AC3E}">
        <p14:creationId xmlns:p14="http://schemas.microsoft.com/office/powerpoint/2010/main" val="392735613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81011A-8674-76B8-0DDD-248E1A3EA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BE184E-BB82-D3F0-473A-B4206AECBE3F}"/>
                  </a:ext>
                </a:extLst>
              </p:cNvPr>
              <p:cNvSpPr txBox="1"/>
              <p:nvPr/>
            </p:nvSpPr>
            <p:spPr>
              <a:xfrm>
                <a:off x="27705" y="65809"/>
                <a:ext cx="6068295" cy="263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100" b="1" dirty="0"/>
              </a:p>
              <a:p>
                <a:r>
                  <a:rPr lang="en-US" sz="1400" b="1" dirty="0"/>
                  <a:t>Null Hypothesis (H₀):</a:t>
                </a:r>
                <a:br>
                  <a:rPr lang="en-US" sz="1400" dirty="0"/>
                </a:br>
                <a:r>
                  <a:rPr lang="en-US" sz="1400" dirty="0"/>
                  <a:t>There is no statistically significant difference in the multivariate karyotype profiles (chromosome copy numbers across V1–V22) between the treatment groups. That is, the mean karyotype profiles are equal across groups.</a:t>
                </a:r>
                <a:br>
                  <a:rPr lang="en-US" sz="1400" dirty="0"/>
                </a:br>
                <a:br>
                  <a:rPr lang="en-US" sz="1400" dirty="0"/>
                </a:br>
                <a:r>
                  <a:rPr lang="en-US" sz="1400" b="1" dirty="0"/>
                  <a:t>Alternative Hypothesis (H₁):</a:t>
                </a:r>
                <a:br>
                  <a:rPr lang="en-US" sz="1400" dirty="0"/>
                </a:br>
                <a:r>
                  <a:rPr lang="en-US" sz="1400" dirty="0"/>
                  <a:t>At least one treatment group has a statistically different multivariate karyotype profile (chromosome copy number pattern) compared to the others.</a:t>
                </a:r>
              </a:p>
              <a:p>
                <a:endParaRPr lang="en-US" sz="1400" dirty="0"/>
              </a:p>
              <a:p>
                <a:r>
                  <a:rPr lang="en-US" sz="1400" b="1" dirty="0"/>
                  <a:t>Where: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sz="1400" b="1" dirty="0"/>
                  <a:t> </a:t>
                </a:r>
                <a:r>
                  <a:rPr lang="en-US" sz="1400" dirty="0"/>
                  <a:t>= mean vector of chromosome copy numbers (V1–V22) for group </a:t>
                </a:r>
                <a:r>
                  <a:rPr lang="en-US" sz="1400" i="1" dirty="0" err="1"/>
                  <a:t>i</a:t>
                </a:r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BE184E-BB82-D3F0-473A-B4206AECB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5" y="65809"/>
                <a:ext cx="6068295" cy="2631490"/>
              </a:xfrm>
              <a:prstGeom prst="rect">
                <a:avLst/>
              </a:prstGeom>
              <a:blipFill>
                <a:blip r:embed="rId2"/>
                <a:stretch>
                  <a:fillRect l="-418" b="-1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8306808-44B3-A5CE-05A9-C3705546781F}"/>
              </a:ext>
            </a:extLst>
          </p:cNvPr>
          <p:cNvSpPr txBox="1"/>
          <p:nvPr/>
        </p:nvSpPr>
        <p:spPr>
          <a:xfrm>
            <a:off x="6345382" y="221673"/>
            <a:ext cx="5638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PERMANOVA:</a:t>
            </a:r>
            <a:br>
              <a:rPr lang="en-US" b="1" dirty="0"/>
            </a:br>
            <a:r>
              <a:rPr lang="en-US" dirty="0"/>
              <a:t>PERMANOVA tests whether the </a:t>
            </a:r>
            <a:r>
              <a:rPr lang="en-US" b="1" dirty="0"/>
              <a:t>centroids of groups in multivariate space</a:t>
            </a:r>
            <a:r>
              <a:rPr lang="en-US" dirty="0"/>
              <a:t> (e.g., based on chromosome copy number profiles) are significantly different, using distance matrices and permutation testing rather than distributional assumptions.</a:t>
            </a:r>
            <a:endParaRPr lang="en-US" b="1" dirty="0"/>
          </a:p>
        </p:txBody>
      </p:sp>
      <p:pic>
        <p:nvPicPr>
          <p:cNvPr id="14" name="Picture 13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38A8F19B-E904-6468-F851-42C8D73AC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381" y="2075550"/>
            <a:ext cx="5734899" cy="263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660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ABEAAC-D301-84E4-74AF-4EAE042E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212ACE48-8539-98A4-7B0B-310D95207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19" y="3956198"/>
            <a:ext cx="5804172" cy="26662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EF71F9-CD52-24EC-1A8A-555AEC12E412}"/>
              </a:ext>
            </a:extLst>
          </p:cNvPr>
          <p:cNvSpPr txBox="1"/>
          <p:nvPr/>
        </p:nvSpPr>
        <p:spPr>
          <a:xfrm>
            <a:off x="6220686" y="5070770"/>
            <a:ext cx="5334000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Manhattan distance</a:t>
            </a:r>
            <a:r>
              <a:rPr lang="en-US" dirty="0">
                <a:solidFill>
                  <a:schemeClr val="bg1"/>
                </a:solidFill>
              </a:rPr>
              <a:t> sums up the absolute differences in chromosome copy numbers (V1–V22) between two clones. It measures how much their karyotype profiles differ overall, treating each chromosome equally.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FD42B6-F18A-C4A7-7E12-28FE1EB95F07}"/>
                  </a:ext>
                </a:extLst>
              </p:cNvPr>
              <p:cNvSpPr txBox="1"/>
              <p:nvPr/>
            </p:nvSpPr>
            <p:spPr>
              <a:xfrm>
                <a:off x="27705" y="65809"/>
                <a:ext cx="6068295" cy="263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100" b="1" dirty="0"/>
              </a:p>
              <a:p>
                <a:r>
                  <a:rPr lang="en-US" sz="1400" b="1" dirty="0"/>
                  <a:t>Null Hypothesis (H₀):</a:t>
                </a:r>
                <a:br>
                  <a:rPr lang="en-US" sz="1400" dirty="0"/>
                </a:br>
                <a:r>
                  <a:rPr lang="en-US" sz="1400" dirty="0"/>
                  <a:t>There is no statistically significant difference in the multivariate karyotype profiles (chromosome copy numbers across V1–V22) between the treatment groups. That is, the mean karyotype profiles are equal across groups.</a:t>
                </a:r>
                <a:br>
                  <a:rPr lang="en-US" sz="1400" dirty="0"/>
                </a:br>
                <a:br>
                  <a:rPr lang="en-US" sz="1400" dirty="0"/>
                </a:br>
                <a:r>
                  <a:rPr lang="en-US" sz="1400" b="1" dirty="0"/>
                  <a:t>Alternative Hypothesis (H₁):</a:t>
                </a:r>
                <a:br>
                  <a:rPr lang="en-US" sz="1400" dirty="0"/>
                </a:br>
                <a:r>
                  <a:rPr lang="en-US" sz="1400" dirty="0"/>
                  <a:t>At least one treatment group has a statistically different multivariate karyotype profile (chromosome copy number pattern) compared to the others.</a:t>
                </a:r>
              </a:p>
              <a:p>
                <a:endParaRPr lang="en-US" sz="1400" dirty="0"/>
              </a:p>
              <a:p>
                <a:r>
                  <a:rPr lang="en-US" sz="1400" b="1" dirty="0"/>
                  <a:t>Where: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sz="1400" b="1" dirty="0"/>
                  <a:t> </a:t>
                </a:r>
                <a:r>
                  <a:rPr lang="en-US" sz="1400" dirty="0"/>
                  <a:t>= mean vector of chromosome copy numbers (V1–V22) for group </a:t>
                </a:r>
                <a:r>
                  <a:rPr lang="en-US" sz="1400" i="1" dirty="0" err="1"/>
                  <a:t>i</a:t>
                </a:r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FD42B6-F18A-C4A7-7E12-28FE1EB95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5" y="65809"/>
                <a:ext cx="6068295" cy="2631490"/>
              </a:xfrm>
              <a:prstGeom prst="rect">
                <a:avLst/>
              </a:prstGeom>
              <a:blipFill>
                <a:blip r:embed="rId3"/>
                <a:stretch>
                  <a:fillRect l="-418" b="-1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9D4A0AA-7D45-97D3-A48E-24A2B113A841}"/>
              </a:ext>
            </a:extLst>
          </p:cNvPr>
          <p:cNvSpPr txBox="1"/>
          <p:nvPr/>
        </p:nvSpPr>
        <p:spPr>
          <a:xfrm>
            <a:off x="6345382" y="221673"/>
            <a:ext cx="5638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PERMANOVA:</a:t>
            </a:r>
            <a:br>
              <a:rPr lang="en-US" b="1" dirty="0"/>
            </a:br>
            <a:r>
              <a:rPr lang="en-US" dirty="0"/>
              <a:t>PERMANOVA tests whether the </a:t>
            </a:r>
            <a:r>
              <a:rPr lang="en-US" b="1" dirty="0"/>
              <a:t>centroids of groups in multivariate space</a:t>
            </a:r>
            <a:r>
              <a:rPr lang="en-US" dirty="0"/>
              <a:t> (e.g., based on chromosome copy number profiles) are significantly different, using distance matrices and permutation testing rather than distributional assumptions.</a:t>
            </a:r>
            <a:endParaRPr lang="en-US" b="1" dirty="0"/>
          </a:p>
        </p:txBody>
      </p:sp>
      <p:pic>
        <p:nvPicPr>
          <p:cNvPr id="14" name="Picture 13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E8DC7F66-78CC-996F-A235-9D857E486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381" y="2075550"/>
            <a:ext cx="5734899" cy="263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1405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E5B271-894A-EB74-8C2B-1830E337E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DCA1E5-007B-21E6-8CB8-DCD99A3C6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43466"/>
            <a:ext cx="961505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8354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4D288-EE29-A7D1-AE0A-9432F51E6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D8261F-3F87-8D26-18B4-091698ECD369}"/>
              </a:ext>
            </a:extLst>
          </p:cNvPr>
          <p:cNvSpPr txBox="1"/>
          <p:nvPr/>
        </p:nvSpPr>
        <p:spPr>
          <a:xfrm>
            <a:off x="97864" y="0"/>
            <a:ext cx="7772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Null Hypothesis (H₀):</a:t>
            </a:r>
            <a:br>
              <a:rPr lang="en-US" sz="1600" dirty="0"/>
            </a:br>
            <a:r>
              <a:rPr lang="en-US" sz="1600" dirty="0"/>
              <a:t>There is no statistically significant difference in the multivariate karyotype profiles (chromosome copy numbers across V1–V22) between the condition groups. That is, the mean karyotype profiles are equal across groups.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1" dirty="0"/>
              <a:t>Alternative Hypothesis (H₁):</a:t>
            </a:r>
            <a:br>
              <a:rPr lang="en-US" sz="1600" dirty="0"/>
            </a:br>
            <a:r>
              <a:rPr lang="en-US" sz="1600" dirty="0"/>
              <a:t>At least one condition groups has a statistically different multivariate karyotype profile (chromosome copy number pattern) compared to the others.</a:t>
            </a:r>
          </a:p>
        </p:txBody>
      </p:sp>
      <p:pic>
        <p:nvPicPr>
          <p:cNvPr id="3" name="Picture 2" descr="A close-up of a test&#10;&#10;AI-generated content may be incorrect.">
            <a:extLst>
              <a:ext uri="{FF2B5EF4-FFF2-40B4-BE49-F238E27FC236}">
                <a16:creationId xmlns:a16="http://schemas.microsoft.com/office/drawing/2014/main" id="{CC26DB1F-B2A1-4F76-62CA-7F6AC3BE7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2" y="2376045"/>
            <a:ext cx="7772400" cy="380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69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8BFC4B-5634-E591-4FC1-E2743FF8E70D}"/>
              </a:ext>
            </a:extLst>
          </p:cNvPr>
          <p:cNvSpPr txBox="1"/>
          <p:nvPr/>
        </p:nvSpPr>
        <p:spPr>
          <a:xfrm>
            <a:off x="720436" y="248039"/>
            <a:ext cx="7042998" cy="58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latin typeface="+mj-lt"/>
                <a:ea typeface="+mj-ea"/>
                <a:cs typeface="+mj-cs"/>
              </a:rPr>
              <a:t>Post-Hoc:</a:t>
            </a:r>
          </a:p>
        </p:txBody>
      </p:sp>
      <p:pic>
        <p:nvPicPr>
          <p:cNvPr id="3" name="Picture 2" descr="A table of blood transfusions&#10;&#10;AI-generated content may be incorrect.">
            <a:extLst>
              <a:ext uri="{FF2B5EF4-FFF2-40B4-BE49-F238E27FC236}">
                <a16:creationId xmlns:a16="http://schemas.microsoft.com/office/drawing/2014/main" id="{D2F1A8F4-F02D-A427-8502-7C5F2079E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16" y="831272"/>
            <a:ext cx="6086066" cy="592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744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5B2B9-8C63-4055-332D-386E812C0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32DC4B-C8C1-2935-E37E-8D5EF1559F3B}"/>
              </a:ext>
            </a:extLst>
          </p:cNvPr>
          <p:cNvSpPr txBox="1"/>
          <p:nvPr/>
        </p:nvSpPr>
        <p:spPr>
          <a:xfrm>
            <a:off x="720436" y="248039"/>
            <a:ext cx="7042998" cy="58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latin typeface="+mj-lt"/>
                <a:ea typeface="+mj-ea"/>
                <a:cs typeface="+mj-cs"/>
              </a:rPr>
              <a:t>Post-Hoc:</a:t>
            </a:r>
          </a:p>
        </p:txBody>
      </p:sp>
      <p:pic>
        <p:nvPicPr>
          <p:cNvPr id="3" name="Picture 2" descr="A table of blood transfusions&#10;&#10;AI-generated content may be incorrect.">
            <a:extLst>
              <a:ext uri="{FF2B5EF4-FFF2-40B4-BE49-F238E27FC236}">
                <a16:creationId xmlns:a16="http://schemas.microsoft.com/office/drawing/2014/main" id="{37D009C5-81C1-858B-3373-B3F37D664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16" y="831272"/>
            <a:ext cx="6086066" cy="59297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F12529-DED9-7887-8073-D1119CD3FFC4}"/>
              </a:ext>
            </a:extLst>
          </p:cNvPr>
          <p:cNvSpPr txBox="1"/>
          <p:nvPr/>
        </p:nvSpPr>
        <p:spPr>
          <a:xfrm>
            <a:off x="6774873" y="2687782"/>
            <a:ext cx="507076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pairwise PERMDISP analysis revealed significant differences in dispersion (</a:t>
            </a:r>
            <a:r>
              <a:rPr lang="en-US" sz="1400" dirty="0" err="1"/>
              <a:t>i.e.,within</a:t>
            </a:r>
            <a:r>
              <a:rPr lang="en-US" sz="1400" dirty="0"/>
              <a:t>-group variability) among several treatment groups, indicating that the assumption of homogenous variance required by PERMANOVA is violated in many comparisons. Notably, treatments such as Glucose, Oxygen, </a:t>
            </a:r>
            <a:r>
              <a:rPr lang="en-US" sz="1400" dirty="0" err="1"/>
              <a:t>R_Condition</a:t>
            </a:r>
            <a:r>
              <a:rPr lang="en-US" sz="1400" dirty="0"/>
              <a:t>, and </a:t>
            </a:r>
            <a:r>
              <a:rPr lang="en-US" sz="1400" dirty="0" err="1"/>
              <a:t>Reversine_Glucose</a:t>
            </a:r>
            <a:r>
              <a:rPr lang="en-US" sz="1400" dirty="0"/>
              <a:t> showed significant differences in dispersion when compared with multiple other treatments (p &lt; 0.05). For example, Glucose differed significantly from </a:t>
            </a:r>
            <a:r>
              <a:rPr lang="en-US" sz="1400" dirty="0" err="1"/>
              <a:t>K_Condition</a:t>
            </a:r>
            <a:r>
              <a:rPr lang="en-US" sz="1400" dirty="0"/>
              <a:t>, Phosphate, and </a:t>
            </a:r>
            <a:r>
              <a:rPr lang="en-US" sz="1400" dirty="0" err="1"/>
              <a:t>R_Condition</a:t>
            </a:r>
            <a:r>
              <a:rPr lang="en-US" sz="1400" dirty="0"/>
              <a:t>, while </a:t>
            </a:r>
            <a:r>
              <a:rPr lang="en-US" sz="1400" dirty="0" err="1"/>
              <a:t>R_Condition</a:t>
            </a:r>
            <a:r>
              <a:rPr lang="en-US" sz="1400" dirty="0"/>
              <a:t> differed in dispersion from nearly all other treatments, suggesting it may be especially destabilizing to karyotypic structure. In contrast, treatments like Control vs </a:t>
            </a:r>
            <a:r>
              <a:rPr lang="en-US" sz="1400" dirty="0" err="1"/>
              <a:t>Reversine_Glucose</a:t>
            </a:r>
            <a:r>
              <a:rPr lang="en-US" sz="1400" dirty="0"/>
              <a:t> and </a:t>
            </a:r>
            <a:r>
              <a:rPr lang="en-US" sz="1400" dirty="0" err="1"/>
              <a:t>Reversine_Control</a:t>
            </a:r>
            <a:r>
              <a:rPr lang="en-US" sz="1400" dirty="0"/>
              <a:t> vs </a:t>
            </a:r>
            <a:r>
              <a:rPr lang="en-US" sz="1400" dirty="0" err="1"/>
              <a:t>Reversine_Glucose</a:t>
            </a:r>
            <a:r>
              <a:rPr lang="en-US" sz="1400" dirty="0"/>
              <a:t> did not differ significantly in their dispersion, indicating comparable within-group variability. These findings imply that differences observed in PERMANOVA results could, at least in part, be driven by differences in dispersion rather than shifts in</a:t>
            </a:r>
          </a:p>
          <a:p>
            <a:r>
              <a:rPr lang="en-US" sz="1400" dirty="0"/>
              <a:t>group centroids alone.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38792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299036-DDF3-300C-FE45-0BC70E7D0D6C}"/>
              </a:ext>
            </a:extLst>
          </p:cNvPr>
          <p:cNvSpPr txBox="1"/>
          <p:nvPr/>
        </p:nvSpPr>
        <p:spPr>
          <a:xfrm>
            <a:off x="720436" y="248039"/>
            <a:ext cx="7042998" cy="58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latin typeface="+mj-lt"/>
                <a:ea typeface="+mj-ea"/>
                <a:cs typeface="+mj-cs"/>
              </a:rPr>
              <a:t>PERMDISP: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DC858C-4303-1B3C-F63F-C823895B168A}"/>
              </a:ext>
            </a:extLst>
          </p:cNvPr>
          <p:cNvSpPr txBox="1"/>
          <p:nvPr/>
        </p:nvSpPr>
        <p:spPr>
          <a:xfrm>
            <a:off x="540327" y="831273"/>
            <a:ext cx="86553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Are the multivariate dispersions (variances) across groups significantly different?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In PERMANOVA, we check PERMDISP to </a:t>
            </a:r>
            <a:r>
              <a:rPr lang="en-US" b="1" dirty="0"/>
              <a:t>validate that our significant PERMANOVA result is due to differences in group means (centroids) rather than differences in group variability (dispersion)</a:t>
            </a:r>
            <a:r>
              <a:rPr lang="en-US" dirty="0"/>
              <a:t>.</a:t>
            </a:r>
            <a:endParaRPr lang="en-US" b="1" dirty="0"/>
          </a:p>
        </p:txBody>
      </p:sp>
      <p:pic>
        <p:nvPicPr>
          <p:cNvPr id="8" name="Picture 7" descr="A close-up of a number&#10;&#10;AI-generated content may be incorrect.">
            <a:extLst>
              <a:ext uri="{FF2B5EF4-FFF2-40B4-BE49-F238E27FC236}">
                <a16:creationId xmlns:a16="http://schemas.microsoft.com/office/drawing/2014/main" id="{1D738769-D81B-560E-C4BC-708EB0439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27" y="2419438"/>
            <a:ext cx="76708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95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AEC04B-C571-788F-83FC-2DF1DF0EA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0002AF-C67B-63D0-4F0E-76B5C7F88DF6}"/>
              </a:ext>
            </a:extLst>
          </p:cNvPr>
          <p:cNvSpPr txBox="1"/>
          <p:nvPr/>
        </p:nvSpPr>
        <p:spPr>
          <a:xfrm>
            <a:off x="720436" y="248039"/>
            <a:ext cx="7042998" cy="583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latin typeface="+mj-lt"/>
                <a:ea typeface="+mj-ea"/>
                <a:cs typeface="+mj-cs"/>
              </a:rPr>
              <a:t>PERMDISP: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F6DB0-3015-323E-198D-C8E69FAD5D6C}"/>
              </a:ext>
            </a:extLst>
          </p:cNvPr>
          <p:cNvSpPr txBox="1"/>
          <p:nvPr/>
        </p:nvSpPr>
        <p:spPr>
          <a:xfrm>
            <a:off x="540327" y="831273"/>
            <a:ext cx="86553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Are the multivariate dispersions (variances) across groups significantly different?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In PERMANOVA, we check PERMDISP to </a:t>
            </a:r>
            <a:r>
              <a:rPr lang="en-US" b="1" dirty="0"/>
              <a:t>validate that our significant PERMANOVA result is due to differences in group means (centroids) rather than differences in group variability (dispersion)</a:t>
            </a:r>
            <a:r>
              <a:rPr lang="en-US" dirty="0"/>
              <a:t>.</a:t>
            </a:r>
            <a:endParaRPr lang="en-US" b="1" dirty="0"/>
          </a:p>
        </p:txBody>
      </p:sp>
      <p:pic>
        <p:nvPicPr>
          <p:cNvPr id="8" name="Picture 7" descr="A close-up of a number&#10;&#10;AI-generated content may be incorrect.">
            <a:extLst>
              <a:ext uri="{FF2B5EF4-FFF2-40B4-BE49-F238E27FC236}">
                <a16:creationId xmlns:a16="http://schemas.microsoft.com/office/drawing/2014/main" id="{22F55E16-A6BC-0675-46D5-17C72776C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27" y="2419438"/>
            <a:ext cx="7670800" cy="1562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940F82-D7A6-D7EA-1D18-1FCC460AF02F}"/>
              </a:ext>
            </a:extLst>
          </p:cNvPr>
          <p:cNvSpPr txBox="1"/>
          <p:nvPr/>
        </p:nvSpPr>
        <p:spPr>
          <a:xfrm>
            <a:off x="540327" y="4239491"/>
            <a:ext cx="79386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Interpretation:</a:t>
            </a:r>
            <a:r>
              <a:rPr lang="en-US" dirty="0"/>
              <a:t> The analysis of multivariate dispersions (PERMDISP) revealed a significant difference in dispersion among treatment groups (F = 10.76, p &lt; 0.001), suggesting that variability within treatments is not uniform. This violates a key assumption of PERMANOVA, which presumes homogeneous dispersions.</a:t>
            </a:r>
          </a:p>
          <a:p>
            <a:r>
              <a:rPr lang="en-US" dirty="0"/>
              <a:t>Consequently, although significant PERMANOVA results may indicate group differences, part of this difference could stem from heterogeneous group variances (dispersion), rather than true differences in centroid locations.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69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69722-E89E-742E-0FEA-8A2034B7E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B4C740-FE9C-A5E3-0859-D548E131C9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18" r="16093" b="2"/>
          <a:stretch>
            <a:fillRect/>
          </a:stretch>
        </p:blipFill>
        <p:spPr>
          <a:xfrm>
            <a:off x="321731" y="557189"/>
            <a:ext cx="5668684" cy="57436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D6D222-C7B5-7439-5880-B4E69CAFC8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80" r="8744" b="2"/>
          <a:stretch>
            <a:fillRect/>
          </a:stretch>
        </p:blipFill>
        <p:spPr>
          <a:xfrm>
            <a:off x="6195375" y="557189"/>
            <a:ext cx="5674893" cy="574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41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336</TotalTime>
  <Words>1027</Words>
  <Application>Microsoft Macintosh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PowerPoint Presentation</vt:lpstr>
      <vt:lpstr>Heatmaps</vt:lpstr>
      <vt:lpstr>Heatmaps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Olofin, Daniel O</dc:creator>
  <cp:lastModifiedBy>Olofin, Daniel O</cp:lastModifiedBy>
  <cp:revision>2</cp:revision>
  <dcterms:created xsi:type="dcterms:W3CDTF">2025-06-09T13:36:27Z</dcterms:created>
  <dcterms:modified xsi:type="dcterms:W3CDTF">2025-08-08T18:24:14Z</dcterms:modified>
</cp:coreProperties>
</file>