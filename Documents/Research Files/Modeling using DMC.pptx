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65" r:id="rId3"/>
    <p:sldId id="286" r:id="rId4"/>
    <p:sldId id="273" r:id="rId5"/>
    <p:sldId id="287" r:id="rId6"/>
    <p:sldId id="278" r:id="rId7"/>
    <p:sldId id="280" r:id="rId8"/>
    <p:sldId id="281" r:id="rId9"/>
    <p:sldId id="288" r:id="rId10"/>
    <p:sldId id="282" r:id="rId11"/>
    <p:sldId id="283" r:id="rId12"/>
    <p:sldId id="284" r:id="rId13"/>
    <p:sldId id="285" r:id="rId14"/>
    <p:sldId id="28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DE81B-CF5D-A046-AB78-A688658FE8C7}" v="108" dt="2025-08-04T13:30:39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4"/>
    <p:restoredTop sz="94796"/>
  </p:normalViewPr>
  <p:slideViewPr>
    <p:cSldViewPr snapToGrid="0">
      <p:cViewPr varScale="1">
        <p:scale>
          <a:sx n="113" d="100"/>
          <a:sy n="113" d="100"/>
        </p:scale>
        <p:origin x="20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F1E91-85E4-974C-8557-8FFAF4F54FDA}" type="datetimeFigureOut">
              <a:rPr lang="en-US" smtClean="0"/>
              <a:t>8/8/25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4606B-CF38-5D40-9FC4-7C7F95DE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4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4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9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4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6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1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7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12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3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9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7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078AB-B3D7-A842-848A-20FC5360C6FC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F982A-E9B6-8949-8CCC-06FB8D70C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819FF7-2786-7C6E-6E85-87CE599A3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29" y="330649"/>
            <a:ext cx="9144000" cy="556305"/>
          </a:xfrm>
        </p:spPr>
        <p:txBody>
          <a:bodyPr/>
          <a:lstStyle/>
          <a:p>
            <a:r>
              <a:rPr lang="en-US" b="1" dirty="0"/>
              <a:t>Research Update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97E50-3E34-086E-A421-627BB316D48C}"/>
              </a:ext>
            </a:extLst>
          </p:cNvPr>
          <p:cNvSpPr txBox="1"/>
          <p:nvPr/>
        </p:nvSpPr>
        <p:spPr>
          <a:xfrm>
            <a:off x="598714" y="3018390"/>
            <a:ext cx="8741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Objective:</a:t>
            </a:r>
          </a:p>
          <a:p>
            <a:r>
              <a:rPr lang="en-US" dirty="0"/>
              <a:t>To model the evolution of chromosomal copy number profiles in cancer cell lines under different conditions, including Control, Glucose 1, and Glucose 2</a:t>
            </a:r>
          </a:p>
          <a:p>
            <a:pPr algn="just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9D2FA-D050-03D8-ACF8-AA90B21C9703}"/>
              </a:ext>
            </a:extLst>
          </p:cNvPr>
          <p:cNvSpPr txBox="1"/>
          <p:nvPr/>
        </p:nvSpPr>
        <p:spPr>
          <a:xfrm>
            <a:off x="598714" y="4608569"/>
            <a:ext cx="77179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Method:</a:t>
            </a:r>
            <a:br>
              <a:rPr lang="en-US" b="1" dirty="0"/>
            </a:br>
            <a:r>
              <a:rPr lang="en-US" dirty="0"/>
              <a:t>Use of a discrete-time stochastic process to simulate karyotypic changes over time, with the goal of reproducing late-phase experimental profiles by adjusting chromosome-level gain and loss probabilities.</a:t>
            </a:r>
          </a:p>
          <a:p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E12A1FB-ED24-09DC-5E7B-735A55838D38}"/>
              </a:ext>
            </a:extLst>
          </p:cNvPr>
          <p:cNvSpPr txBox="1">
            <a:spLocks/>
          </p:cNvSpPr>
          <p:nvPr/>
        </p:nvSpPr>
        <p:spPr>
          <a:xfrm>
            <a:off x="460234" y="1227341"/>
            <a:ext cx="9144000" cy="12003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Daniel Olofin</a:t>
            </a:r>
            <a:br>
              <a:rPr lang="en-US" b="1" dirty="0"/>
            </a:br>
            <a:r>
              <a:rPr lang="en-US" b="1" dirty="0"/>
              <a:t>Clonal Redesign Lab</a:t>
            </a:r>
          </a:p>
          <a:p>
            <a:r>
              <a:rPr lang="en-US" dirty="0"/>
              <a:t>04 – Aug 2025</a:t>
            </a:r>
          </a:p>
        </p:txBody>
      </p:sp>
    </p:spTree>
    <p:extLst>
      <p:ext uri="{BB962C8B-B14F-4D97-AF65-F5344CB8AC3E}">
        <p14:creationId xmlns:p14="http://schemas.microsoft.com/office/powerpoint/2010/main" val="3904571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F0F30-19B7-AF5D-E2A2-0CF66062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57C89EF-83C7-EE51-3C43-2073F02DB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41" y="797544"/>
            <a:ext cx="6518759" cy="1404258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FCB1264-0D91-21A8-7A29-94BCBCB4C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923508"/>
              </p:ext>
            </p:extLst>
          </p:nvPr>
        </p:nvGraphicFramePr>
        <p:xfrm>
          <a:off x="186841" y="2329543"/>
          <a:ext cx="6518760" cy="445225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259380">
                  <a:extLst>
                    <a:ext uri="{9D8B030D-6E8A-4147-A177-3AD203B41FA5}">
                      <a16:colId xmlns:a16="http://schemas.microsoft.com/office/drawing/2014/main" val="2556700469"/>
                    </a:ext>
                  </a:extLst>
                </a:gridCol>
                <a:gridCol w="3259380">
                  <a:extLst>
                    <a:ext uri="{9D8B030D-6E8A-4147-A177-3AD203B41FA5}">
                      <a16:colId xmlns:a16="http://schemas.microsoft.com/office/drawing/2014/main" val="4041118395"/>
                    </a:ext>
                  </a:extLst>
                </a:gridCol>
              </a:tblGrid>
              <a:tr h="371021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627197"/>
                  </a:ext>
                </a:extLst>
              </a:tr>
              <a:tr h="649287">
                <a:tc>
                  <a:txBody>
                    <a:bodyPr/>
                    <a:lstStyle/>
                    <a:p>
                      <a:r>
                        <a:rPr lang="en-US" dirty="0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Copy numbers of 22 chromosomes in a single cell.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124380"/>
                  </a:ext>
                </a:extLst>
              </a:tr>
              <a:tr h="649287">
                <a:tc>
                  <a:txBody>
                    <a:bodyPr/>
                    <a:lstStyle/>
                    <a:p>
                      <a:r>
                        <a:rPr lang="en-US" dirty="0"/>
                        <a:t>Initial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real early-stage control cell’s karyotype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314769"/>
                  </a:ext>
                </a:extLst>
              </a:tr>
              <a:tr h="927554">
                <a:tc>
                  <a:txBody>
                    <a:bodyPr/>
                    <a:lstStyle/>
                    <a:p>
                      <a:r>
                        <a:rPr lang="en-US" dirty="0"/>
                        <a:t>Time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iteration (t = 1 to 10) represents chromosomal change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350853"/>
                  </a:ext>
                </a:extLst>
              </a:tr>
              <a:tr h="927554">
                <a:tc>
                  <a:txBody>
                    <a:bodyPr/>
                    <a:lstStyle/>
                    <a:p>
                      <a:r>
                        <a:rPr lang="en-US" dirty="0"/>
                        <a:t>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 each time step, every chromosome can: gain (+1), lose (–1), or stay the same 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42431"/>
                  </a:ext>
                </a:extLst>
              </a:tr>
              <a:tr h="927554">
                <a:tc>
                  <a:txBody>
                    <a:bodyPr/>
                    <a:lstStyle/>
                    <a:p>
                      <a:r>
                        <a:rPr lang="en-US" dirty="0"/>
                        <a:t>Transition Probabilities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Controlled by parameters </a:t>
                      </a:r>
                      <a:r>
                        <a:rPr lang="en-US" dirty="0" err="1"/>
                        <a:t>p_gain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p_loss</a:t>
                      </a:r>
                      <a:r>
                        <a:rPr lang="en-US" dirty="0"/>
                        <a:t>, and 1 - </a:t>
                      </a:r>
                      <a:r>
                        <a:rPr lang="en-US" dirty="0" err="1"/>
                        <a:t>p_gain</a:t>
                      </a:r>
                      <a:r>
                        <a:rPr lang="en-US" dirty="0"/>
                        <a:t> - </a:t>
                      </a:r>
                      <a:r>
                        <a:rPr lang="en-US" dirty="0" err="1"/>
                        <a:t>p_loss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364718"/>
                  </a:ext>
                </a:extLst>
              </a:tr>
            </a:tbl>
          </a:graphicData>
        </a:graphic>
      </p:graphicFrame>
      <p:sp>
        <p:nvSpPr>
          <p:cNvPr id="2" name="Subtitle 2">
            <a:extLst>
              <a:ext uri="{FF2B5EF4-FFF2-40B4-BE49-F238E27FC236}">
                <a16:creationId xmlns:a16="http://schemas.microsoft.com/office/drawing/2014/main" id="{F6477848-A5FE-7F7A-39DA-0EC6043C379D}"/>
              </a:ext>
            </a:extLst>
          </p:cNvPr>
          <p:cNvSpPr txBox="1">
            <a:spLocks/>
          </p:cNvSpPr>
          <p:nvPr/>
        </p:nvSpPr>
        <p:spPr>
          <a:xfrm>
            <a:off x="435429" y="174172"/>
            <a:ext cx="2351314" cy="495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Method</a:t>
            </a:r>
            <a:endParaRPr lang="en-US" dirty="0"/>
          </a:p>
        </p:txBody>
      </p:sp>
      <p:pic>
        <p:nvPicPr>
          <p:cNvPr id="7" name="Picture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B765543B-A6B5-8591-CB7D-20E8DD955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796" y="797544"/>
            <a:ext cx="5082363" cy="2339061"/>
          </a:xfrm>
          <a:prstGeom prst="rect">
            <a:avLst/>
          </a:prstGeom>
        </p:spPr>
      </p:pic>
      <p:pic>
        <p:nvPicPr>
          <p:cNvPr id="10" name="Picture 9" descr="A screenshot of a grid search&#10;&#10;AI-generated content may be incorrect.">
            <a:extLst>
              <a:ext uri="{FF2B5EF4-FFF2-40B4-BE49-F238E27FC236}">
                <a16:creationId xmlns:a16="http://schemas.microsoft.com/office/drawing/2014/main" id="{E2E61130-AC6F-B7CF-C9CA-7C5978B29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795" y="3264346"/>
            <a:ext cx="5082364" cy="314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1F924-5B5D-43CB-AFDC-9866A5EE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F35F3BB-9D35-279D-C885-8D18A1A175F1}"/>
              </a:ext>
            </a:extLst>
          </p:cNvPr>
          <p:cNvSpPr txBox="1">
            <a:spLocks/>
          </p:cNvSpPr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Work Flow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B685041-50CF-7914-B31F-E23F4FC7D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93" y="1845426"/>
            <a:ext cx="6380361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12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3148E-DBA5-D01F-6C1F-B42E152D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F49A93C-2E78-0409-74B9-5C53A1A1BC8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7168116" cy="73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Control using Linear Grid Search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3E63BA58-257A-8003-F61B-4FB9C883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1467293"/>
            <a:ext cx="5828261" cy="468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5613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9AAB8-8C6C-1A9B-977B-12B1E467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CB254C-6349-8C13-E8D1-8EBA5EE8E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8027B5C-BB76-2ED2-8F63-98AE17FBAD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7168116" cy="730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Control using Linear Grid Search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D1D69AD1-5645-12EE-1B46-5F5489724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1467293"/>
            <a:ext cx="5828261" cy="4688701"/>
          </a:xfrm>
          <a:prstGeom prst="rect">
            <a:avLst/>
          </a:prstGeom>
        </p:spPr>
      </p:pic>
      <p:pic>
        <p:nvPicPr>
          <p:cNvPr id="6" name="Picture 5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791DFC61-3FA6-8E30-7D35-FE433F352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730" y="1467293"/>
            <a:ext cx="5828261" cy="468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1931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978A4-EDD8-8805-BA4B-AC6A14386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D250662-6380-4D67-D348-A6F6AF646078}"/>
              </a:ext>
            </a:extLst>
          </p:cNvPr>
          <p:cNvSpPr txBox="1">
            <a:spLocks/>
          </p:cNvSpPr>
          <p:nvPr/>
        </p:nvSpPr>
        <p:spPr>
          <a:xfrm>
            <a:off x="1001684" y="170412"/>
            <a:ext cx="7791442" cy="715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Control using Log Grid Search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" name="Picture 11" descr="A close-up of a graph&#10;&#10;AI-generated content may be incorrect.">
            <a:extLst>
              <a:ext uri="{FF2B5EF4-FFF2-40B4-BE49-F238E27FC236}">
                <a16:creationId xmlns:a16="http://schemas.microsoft.com/office/drawing/2014/main" id="{D4606EA2-32AE-4B41-5E7A-7CC96A684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49" y="1056272"/>
            <a:ext cx="6494535" cy="524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7417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1929D-A2E9-F99D-2BCB-F8ECDB738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E15B666-D6AB-F16B-EF83-AE083DE3C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CEEB17B-FB80-F899-1F80-4F50791D49E5}"/>
              </a:ext>
            </a:extLst>
          </p:cNvPr>
          <p:cNvSpPr txBox="1">
            <a:spLocks/>
          </p:cNvSpPr>
          <p:nvPr/>
        </p:nvSpPr>
        <p:spPr>
          <a:xfrm>
            <a:off x="1001684" y="170412"/>
            <a:ext cx="8004093" cy="6238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Control using Mid Grid Search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2BAE6D30-2C87-5948-D360-01411711E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35314"/>
            <a:ext cx="6547743" cy="5146934"/>
          </a:xfrm>
          <a:prstGeom prst="rect">
            <a:avLst/>
          </a:prstGeom>
        </p:spPr>
      </p:pic>
      <p:pic>
        <p:nvPicPr>
          <p:cNvPr id="6" name="Picture 5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AA15F586-0FE0-8735-73FB-5E39B6458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6" y="1364342"/>
            <a:ext cx="5529943" cy="495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312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28CC87-2ADF-40CD-1169-FB6A674C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2465C0F-936F-A358-1F4F-CEE7B0F4F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6D2AE06-9674-79D0-B1C4-130EEDE73A16}"/>
              </a:ext>
            </a:extLst>
          </p:cNvPr>
          <p:cNvSpPr txBox="1">
            <a:spLocks/>
          </p:cNvSpPr>
          <p:nvPr/>
        </p:nvSpPr>
        <p:spPr>
          <a:xfrm>
            <a:off x="1001684" y="170412"/>
            <a:ext cx="8450660" cy="7154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</a:t>
            </a:r>
            <a:r>
              <a:rPr lang="en-US" sz="3600" b="1" dirty="0">
                <a:latin typeface="+mj-lt"/>
                <a:ea typeface="+mj-ea"/>
                <a:cs typeface="+mj-cs"/>
              </a:rPr>
              <a:t>Glucose 1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using </a:t>
            </a:r>
            <a:r>
              <a:rPr lang="en-US" sz="3600" b="1" dirty="0">
                <a:latin typeface="+mj-lt"/>
                <a:ea typeface="+mj-ea"/>
                <a:cs typeface="+mj-cs"/>
              </a:rPr>
              <a:t>Linear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Grid Search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CF115F08-8118-148D-D38F-BC4547112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342"/>
            <a:ext cx="6662056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0268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AE871-37A7-1052-A765-A8413354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F09976C-90DA-CE54-5553-2ED3C13D6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DAD72C0-4B55-FCD2-0855-B09274DEE56D}"/>
              </a:ext>
            </a:extLst>
          </p:cNvPr>
          <p:cNvSpPr txBox="1">
            <a:spLocks/>
          </p:cNvSpPr>
          <p:nvPr/>
        </p:nvSpPr>
        <p:spPr>
          <a:xfrm>
            <a:off x="1001684" y="170412"/>
            <a:ext cx="8450660" cy="7154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</a:t>
            </a:r>
            <a:r>
              <a:rPr lang="en-US" sz="3600" b="1" dirty="0">
                <a:latin typeface="+mj-lt"/>
                <a:ea typeface="+mj-ea"/>
                <a:cs typeface="+mj-cs"/>
              </a:rPr>
              <a:t>Glucose 1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using </a:t>
            </a:r>
            <a:r>
              <a:rPr lang="en-US" sz="3600" b="1" dirty="0">
                <a:latin typeface="+mj-lt"/>
                <a:ea typeface="+mj-ea"/>
                <a:cs typeface="+mj-cs"/>
              </a:rPr>
              <a:t>Linear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Grid Search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D8B9EFF6-BDCA-22EB-ADE9-14492B5F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342"/>
            <a:ext cx="6662056" cy="4857750"/>
          </a:xfrm>
          <a:prstGeom prst="rect">
            <a:avLst/>
          </a:prstGeom>
        </p:spPr>
      </p:pic>
      <p:pic>
        <p:nvPicPr>
          <p:cNvPr id="8" name="Picture 7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23110E65-0AC0-1E6F-C4B1-639937E52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656" y="1540210"/>
            <a:ext cx="5304971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1377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F57A5-BB6A-B712-7638-34DBADFC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F75E73A-AED6-9906-5C91-BEE252B1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AB0E910-1611-5098-23D3-6E95B83D31C2}"/>
              </a:ext>
            </a:extLst>
          </p:cNvPr>
          <p:cNvSpPr txBox="1">
            <a:spLocks/>
          </p:cNvSpPr>
          <p:nvPr/>
        </p:nvSpPr>
        <p:spPr>
          <a:xfrm>
            <a:off x="1001684" y="170412"/>
            <a:ext cx="8450660" cy="715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</a:t>
            </a:r>
            <a:r>
              <a:rPr lang="en-US" sz="3600" b="1" dirty="0">
                <a:latin typeface="+mj-lt"/>
                <a:ea typeface="+mj-ea"/>
                <a:cs typeface="+mj-cs"/>
              </a:rPr>
              <a:t>Glucose 1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using Mid Grid Search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CF2E395E-38B0-ACAA-1EC7-7B6DE3429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40210"/>
            <a:ext cx="6763657" cy="4857750"/>
          </a:xfrm>
          <a:prstGeom prst="rect">
            <a:avLst/>
          </a:prstGeom>
        </p:spPr>
      </p:pic>
      <p:pic>
        <p:nvPicPr>
          <p:cNvPr id="7" name="Picture 6" descr="A graph of blue bars&#10;&#10;AI-generated content may be incorrect.">
            <a:extLst>
              <a:ext uri="{FF2B5EF4-FFF2-40B4-BE49-F238E27FC236}">
                <a16:creationId xmlns:a16="http://schemas.microsoft.com/office/drawing/2014/main" id="{9529E400-5FC8-50ED-75A4-52AD1DCEE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656" y="1540209"/>
            <a:ext cx="5304972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270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47F20-7F74-EA95-FD5A-6EC56B23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FE68623-CFD8-D680-F61A-B797C6823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0D51E4F-EE72-CFC9-0D5A-37E84485872B}"/>
              </a:ext>
            </a:extLst>
          </p:cNvPr>
          <p:cNvSpPr txBox="1">
            <a:spLocks/>
          </p:cNvSpPr>
          <p:nvPr/>
        </p:nvSpPr>
        <p:spPr>
          <a:xfrm>
            <a:off x="1001684" y="170412"/>
            <a:ext cx="8450660" cy="7154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</a:t>
            </a:r>
            <a:r>
              <a:rPr lang="en-US" sz="3600" b="1" dirty="0">
                <a:latin typeface="+mj-lt"/>
                <a:ea typeface="+mj-ea"/>
                <a:cs typeface="+mj-cs"/>
              </a:rPr>
              <a:t>Glucose 2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using </a:t>
            </a:r>
            <a:r>
              <a:rPr lang="en-US" sz="3600" b="1" dirty="0">
                <a:latin typeface="+mj-lt"/>
                <a:ea typeface="+mj-ea"/>
                <a:cs typeface="+mj-cs"/>
              </a:rPr>
              <a:t>Linear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Grid Search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8CA4C979-995F-AE48-A423-D1BE858CF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3" y="1540209"/>
            <a:ext cx="5972627" cy="4857750"/>
          </a:xfrm>
          <a:prstGeom prst="rect">
            <a:avLst/>
          </a:prstGeom>
        </p:spPr>
      </p:pic>
      <p:pic>
        <p:nvPicPr>
          <p:cNvPr id="8" name="Picture 7" descr="A graph of blue bars&#10;&#10;AI-generated content may be incorrect.">
            <a:extLst>
              <a:ext uri="{FF2B5EF4-FFF2-40B4-BE49-F238E27FC236}">
                <a16:creationId xmlns:a16="http://schemas.microsoft.com/office/drawing/2014/main" id="{9EEC63A0-85D4-DA9C-AC91-C79BDE5F9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229" y="1554722"/>
            <a:ext cx="5740399" cy="485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0404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85398-F801-B80E-75DC-2FF52857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D464BBE-F9C7-3AEE-DC36-407D91638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764D091-074D-ED52-2E92-9124EEAF4C65}"/>
              </a:ext>
            </a:extLst>
          </p:cNvPr>
          <p:cNvSpPr txBox="1">
            <a:spLocks/>
          </p:cNvSpPr>
          <p:nvPr/>
        </p:nvSpPr>
        <p:spPr>
          <a:xfrm>
            <a:off x="1001684" y="170412"/>
            <a:ext cx="8450660" cy="715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– </a:t>
            </a:r>
            <a:r>
              <a:rPr lang="en-US" sz="3600" b="1" dirty="0">
                <a:latin typeface="+mj-lt"/>
                <a:ea typeface="+mj-ea"/>
                <a:cs typeface="+mj-cs"/>
              </a:rPr>
              <a:t>Glucose 2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using Mid Grid Search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collage of graphs and diagrams&#10;&#10;AI-generated content may be incorrect.">
            <a:extLst>
              <a:ext uri="{FF2B5EF4-FFF2-40B4-BE49-F238E27FC236}">
                <a16:creationId xmlns:a16="http://schemas.microsoft.com/office/drawing/2014/main" id="{D87705ED-7153-7F92-168F-D3BE171D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055"/>
            <a:ext cx="6328229" cy="4857750"/>
          </a:xfrm>
          <a:prstGeom prst="rect">
            <a:avLst/>
          </a:prstGeom>
        </p:spPr>
      </p:pic>
      <p:pic>
        <p:nvPicPr>
          <p:cNvPr id="7" name="Picture 6" descr="A graph of blue bars&#10;&#10;AI-generated content may be incorrect.">
            <a:extLst>
              <a:ext uri="{FF2B5EF4-FFF2-40B4-BE49-F238E27FC236}">
                <a16:creationId xmlns:a16="http://schemas.microsoft.com/office/drawing/2014/main" id="{057DDF5A-37F3-6A8B-8CC9-1C0E4C178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228" y="1443055"/>
            <a:ext cx="5863771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6421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0506A-A75A-71B4-BA6A-AFD8C2056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668337"/>
            <a:ext cx="5157787" cy="681492"/>
          </a:xfrm>
        </p:spPr>
        <p:txBody>
          <a:bodyPr/>
          <a:lstStyle/>
          <a:p>
            <a:r>
              <a:rPr lang="en-US" dirty="0"/>
              <a:t>Conclusions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6894F-832E-A518-25B8-A06284320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40114"/>
            <a:ext cx="5157787" cy="4549549"/>
          </a:xfrm>
        </p:spPr>
        <p:txBody>
          <a:bodyPr>
            <a:normAutofit/>
          </a:bodyPr>
          <a:lstStyle/>
          <a:p>
            <a:r>
              <a:rPr lang="en-US" sz="2000" dirty="0"/>
              <a:t>The symmetric gain/loss Markov model don’t captures chromosomal dynamics under baseline (Control) conditions, validating that we need to improve the modeling for stable karyotype evolution.</a:t>
            </a:r>
          </a:p>
          <a:p>
            <a:r>
              <a:rPr lang="en-US" sz="2000" dirty="0"/>
              <a:t>Under stress-induced conditions (e.g., Glucose 1 and Glucose 2), the model fails to reproduce observed profiles, highlighting the need for more advanced models that incorporate asymmetric transitions and condition-specific selective forces.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54BE36-278A-5EDC-49C5-5BB7E3785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668337"/>
            <a:ext cx="5183188" cy="681492"/>
          </a:xfrm>
        </p:spPr>
        <p:txBody>
          <a:bodyPr/>
          <a:lstStyle/>
          <a:p>
            <a:r>
              <a:rPr lang="en-US" dirty="0"/>
              <a:t>Future Direction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68E3E-3E08-87F4-B179-124C3A46CE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40114"/>
            <a:ext cx="5183188" cy="4549549"/>
          </a:xfrm>
        </p:spPr>
        <p:txBody>
          <a:bodyPr/>
          <a:lstStyle/>
          <a:p>
            <a:r>
              <a:rPr lang="en-US" sz="2000" dirty="0"/>
              <a:t>Explore hybrid models combining mechanistic simulations with machine learning techniques to learn transition structures from data.</a:t>
            </a:r>
          </a:p>
          <a:p>
            <a:r>
              <a:rPr lang="en-US" sz="2000" dirty="0"/>
              <a:t>Integrate lineage-tracing data to capture clonal evolution trajectories.</a:t>
            </a:r>
          </a:p>
          <a:p>
            <a:r>
              <a:rPr lang="en-US" sz="2000" dirty="0"/>
              <a:t>Introduce asymmetric transition probabilities to reflect directional chromosomal changes under selective stress.</a:t>
            </a:r>
          </a:p>
          <a:p>
            <a:r>
              <a:rPr lang="en-US" sz="2000" dirty="0"/>
              <a:t>Add some biological parameter </a:t>
            </a:r>
            <a:r>
              <a:rPr lang="en-US" sz="2000"/>
              <a:t>if possible.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570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B155C-5187-7111-B55D-BC582294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767"/>
            <a:ext cx="10515600" cy="2686419"/>
          </a:xfrm>
        </p:spPr>
        <p:txBody>
          <a:bodyPr/>
          <a:lstStyle/>
          <a:p>
            <a:pPr algn="ctr"/>
            <a:r>
              <a:rPr lang="en-US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62595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4223</TotalTime>
  <Words>348</Words>
  <Application>Microsoft Macintosh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Olofin, Daniel O</dc:creator>
  <cp:lastModifiedBy>Olofin, Daniel O</cp:lastModifiedBy>
  <cp:revision>3</cp:revision>
  <dcterms:created xsi:type="dcterms:W3CDTF">2025-06-09T13:36:27Z</dcterms:created>
  <dcterms:modified xsi:type="dcterms:W3CDTF">2025-08-08T18:20:37Z</dcterms:modified>
</cp:coreProperties>
</file>