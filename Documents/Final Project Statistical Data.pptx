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94687"/>
  </p:normalViewPr>
  <p:slideViewPr>
    <p:cSldViewPr snapToGrid="0">
      <p:cViewPr varScale="1">
        <p:scale>
          <a:sx n="121" d="100"/>
          <a:sy n="121" d="100"/>
        </p:scale>
        <p:origin x="3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964C1-7F88-F6A7-B4AD-7EC3ABA78E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E20718-8B74-29F4-5395-1A4CE57B73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5E900C-4F2D-6479-3BF1-F23854F0F453}"/>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5" name="Footer Placeholder 4">
            <a:extLst>
              <a:ext uri="{FF2B5EF4-FFF2-40B4-BE49-F238E27FC236}">
                <a16:creationId xmlns:a16="http://schemas.microsoft.com/office/drawing/2014/main" id="{A1A59532-B304-6420-7188-A299D7E58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B96A8F-805B-19B8-EEB5-96E5AA8E0C82}"/>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3780703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5F60-93F8-F73B-CCFA-255DFF37B3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B7E53F-239C-5BD3-4963-67878CC127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F261BA-3B0A-8C5D-18E1-666E2892A6EB}"/>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5" name="Footer Placeholder 4">
            <a:extLst>
              <a:ext uri="{FF2B5EF4-FFF2-40B4-BE49-F238E27FC236}">
                <a16:creationId xmlns:a16="http://schemas.microsoft.com/office/drawing/2014/main" id="{1011F9B5-71B1-18F1-1333-6DF9C0C49A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FE651-AC3B-5D71-BFB1-173CD7FA11B3}"/>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2169140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CCBF4-6E3E-46C1-D1BF-1E2583C6DB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F094E7-F680-0F6C-6F5F-D1BC9FFAC6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647434-E80B-C9AB-5DC6-F777790CF867}"/>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5" name="Footer Placeholder 4">
            <a:extLst>
              <a:ext uri="{FF2B5EF4-FFF2-40B4-BE49-F238E27FC236}">
                <a16:creationId xmlns:a16="http://schemas.microsoft.com/office/drawing/2014/main" id="{64326949-934B-8E3B-5809-332DD22BDD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AC558-0EF2-06A9-CF43-287DCAA63CC2}"/>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4204842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A6036-2E86-0BCC-F75E-12403BE2EF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7CBDBF-37A9-596D-8575-E586B9958E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33C1FB-CB3F-4568-F114-DA9046679E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AB8D24-3B44-685D-E9B1-62E7A74943BC}"/>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6" name="Footer Placeholder 5">
            <a:extLst>
              <a:ext uri="{FF2B5EF4-FFF2-40B4-BE49-F238E27FC236}">
                <a16:creationId xmlns:a16="http://schemas.microsoft.com/office/drawing/2014/main" id="{F9AA2CF2-76C8-4244-A7C8-03620FA7FF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4635C4-103C-70FF-884A-1DE05D534C8B}"/>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1659864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75BF-DFF6-981C-0D28-B0D5BEC66F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DDD6E0-698D-0B0D-5088-EB42F593A7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868ED1-29F1-51E5-4A78-AEA79FCABE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D45D79-EFB5-67A6-7259-CFAC024C4D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F944AE-4526-BE9C-58BA-A7C522A812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E58E88-16EA-7D5D-578A-8C4A9F590CBC}"/>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8" name="Footer Placeholder 7">
            <a:extLst>
              <a:ext uri="{FF2B5EF4-FFF2-40B4-BE49-F238E27FC236}">
                <a16:creationId xmlns:a16="http://schemas.microsoft.com/office/drawing/2014/main" id="{5592C64B-0AB8-3A23-E1F8-255523200F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4C6C28-FDDE-5FBC-DC02-056B97E089B3}"/>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912258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D9E4B-1D7B-62F9-A4F2-D17B873807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1DF40F-79F7-3F01-38DE-28A226FCEC33}"/>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4" name="Footer Placeholder 3">
            <a:extLst>
              <a:ext uri="{FF2B5EF4-FFF2-40B4-BE49-F238E27FC236}">
                <a16:creationId xmlns:a16="http://schemas.microsoft.com/office/drawing/2014/main" id="{335CA7CD-BC85-03DB-9577-083473D0BF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758373-F3F5-48C4-CAC0-6F4D44F65FDF}"/>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379064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23C09E-5403-96A4-8816-40D1B7A54333}"/>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3" name="Footer Placeholder 2">
            <a:extLst>
              <a:ext uri="{FF2B5EF4-FFF2-40B4-BE49-F238E27FC236}">
                <a16:creationId xmlns:a16="http://schemas.microsoft.com/office/drawing/2014/main" id="{F17C1A38-4193-33AF-AB93-67E6E9D131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45855C-10DF-1B57-0264-A5EA113DF1E9}"/>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3645281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142AA-4360-3A02-99FE-22C372F3C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A3F58B-D1A6-ADBE-9F3F-32729770BD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C243ED-E104-3D8E-C7B2-1044FF3F98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48968E-28F8-ED2A-016D-190904D3DE49}"/>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6" name="Footer Placeholder 5">
            <a:extLst>
              <a:ext uri="{FF2B5EF4-FFF2-40B4-BE49-F238E27FC236}">
                <a16:creationId xmlns:a16="http://schemas.microsoft.com/office/drawing/2014/main" id="{255C5575-2621-528C-1B8E-9834790D9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A6E0B0-63D4-3526-4B57-C22256CADFDA}"/>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235924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7DFC4-4010-8272-FC5C-270EE97C17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9C4205-1E62-D434-E10A-BB8653971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8A0DB0-1AAB-03F4-4EB8-FE50155D26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F9BD17-A496-BD16-039D-6F832C32A65E}"/>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6" name="Footer Placeholder 5">
            <a:extLst>
              <a:ext uri="{FF2B5EF4-FFF2-40B4-BE49-F238E27FC236}">
                <a16:creationId xmlns:a16="http://schemas.microsoft.com/office/drawing/2014/main" id="{F7BE32E1-17FA-6942-C0DD-91DD87FC9D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A45FD6-E6A2-E226-47EB-6B3B66CCA905}"/>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419854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C75C4-F205-D9D1-771F-4B2AB0F8EF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53F411-27C9-AFC3-909E-A16BC18DBB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2E2C3-0E7A-7BA3-1FEB-B0D181F58905}"/>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5" name="Footer Placeholder 4">
            <a:extLst>
              <a:ext uri="{FF2B5EF4-FFF2-40B4-BE49-F238E27FC236}">
                <a16:creationId xmlns:a16="http://schemas.microsoft.com/office/drawing/2014/main" id="{B2FF407B-1BA1-FB72-E2B2-136BE12D6B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1C7460-9642-B13A-9597-9981094B7A4F}"/>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2809381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3BD83A-FDB8-1173-8DE6-1843B85AEE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6E5B34-7718-DF17-8DEB-E3BFAF2F38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7F9CDB-E469-B1CD-072C-A0808CE7E2A9}"/>
              </a:ext>
            </a:extLst>
          </p:cNvPr>
          <p:cNvSpPr>
            <a:spLocks noGrp="1"/>
          </p:cNvSpPr>
          <p:nvPr>
            <p:ph type="dt" sz="half" idx="10"/>
          </p:nvPr>
        </p:nvSpPr>
        <p:spPr/>
        <p:txBody>
          <a:bodyPr/>
          <a:lstStyle/>
          <a:p>
            <a:fld id="{747A3FDC-F4C1-0743-A7E7-95863B50A99A}" type="datetimeFigureOut">
              <a:rPr lang="en-US" smtClean="0"/>
              <a:t>11/22/25</a:t>
            </a:fld>
            <a:endParaRPr lang="en-US"/>
          </a:p>
        </p:txBody>
      </p:sp>
      <p:sp>
        <p:nvSpPr>
          <p:cNvPr id="5" name="Footer Placeholder 4">
            <a:extLst>
              <a:ext uri="{FF2B5EF4-FFF2-40B4-BE49-F238E27FC236}">
                <a16:creationId xmlns:a16="http://schemas.microsoft.com/office/drawing/2014/main" id="{0A448F69-E1F3-98B4-CFD1-BAE6B0A88F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03713C-51CF-FD4B-7DA4-0B9736D73C58}"/>
              </a:ext>
            </a:extLst>
          </p:cNvPr>
          <p:cNvSpPr>
            <a:spLocks noGrp="1"/>
          </p:cNvSpPr>
          <p:nvPr>
            <p:ph type="sldNum" sz="quarter" idx="12"/>
          </p:nvPr>
        </p:nvSpPr>
        <p:spPr/>
        <p:txBody>
          <a:bodyPr/>
          <a:lstStyle/>
          <a:p>
            <a:fld id="{10189A78-3B61-AD4C-A22E-D85B6F7104BB}" type="slidenum">
              <a:rPr lang="en-US" smtClean="0"/>
              <a:t>‹#›</a:t>
            </a:fld>
            <a:endParaRPr lang="en-US"/>
          </a:p>
        </p:txBody>
      </p:sp>
    </p:spTree>
    <p:extLst>
      <p:ext uri="{BB962C8B-B14F-4D97-AF65-F5344CB8AC3E}">
        <p14:creationId xmlns:p14="http://schemas.microsoft.com/office/powerpoint/2010/main" val="417388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6DBFD9-4433-E478-6055-428EF9DBCD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6AC059-63F5-EE31-632F-5B5510D3A9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D3359D-AD56-98E8-BFE9-5889A3B52D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7A3FDC-F4C1-0743-A7E7-95863B50A99A}" type="datetimeFigureOut">
              <a:rPr lang="en-US" smtClean="0"/>
              <a:t>11/22/25</a:t>
            </a:fld>
            <a:endParaRPr lang="en-US"/>
          </a:p>
        </p:txBody>
      </p:sp>
      <p:sp>
        <p:nvSpPr>
          <p:cNvPr id="5" name="Footer Placeholder 4">
            <a:extLst>
              <a:ext uri="{FF2B5EF4-FFF2-40B4-BE49-F238E27FC236}">
                <a16:creationId xmlns:a16="http://schemas.microsoft.com/office/drawing/2014/main" id="{90F260EE-8873-825F-2FD8-DFCA24B7DA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225723-6433-1C87-D0E4-5817EA98AC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189A78-3B61-AD4C-A22E-D85B6F7104BB}" type="slidenum">
              <a:rPr lang="en-US" smtClean="0"/>
              <a:t>‹#›</a:t>
            </a:fld>
            <a:endParaRPr lang="en-US"/>
          </a:p>
        </p:txBody>
      </p:sp>
    </p:spTree>
    <p:extLst>
      <p:ext uri="{BB962C8B-B14F-4D97-AF65-F5344CB8AC3E}">
        <p14:creationId xmlns:p14="http://schemas.microsoft.com/office/powerpoint/2010/main" val="966319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850F1-1252-FA71-0B17-08971A150D17}"/>
              </a:ext>
            </a:extLst>
          </p:cNvPr>
          <p:cNvSpPr>
            <a:spLocks noGrp="1"/>
          </p:cNvSpPr>
          <p:nvPr>
            <p:ph type="ctrTitle"/>
          </p:nvPr>
        </p:nvSpPr>
        <p:spPr>
          <a:xfrm>
            <a:off x="1524000" y="809297"/>
            <a:ext cx="9144000" cy="1481958"/>
          </a:xfrm>
        </p:spPr>
        <p:txBody>
          <a:bodyPr>
            <a:normAutofit/>
          </a:bodyPr>
          <a:lstStyle/>
          <a:p>
            <a:r>
              <a:rPr lang="en-US" sz="3200" dirty="0">
                <a:latin typeface="Times New Roman" panose="02020603050405020304" pitchFamily="18" charset="0"/>
                <a:cs typeface="Times New Roman" panose="02020603050405020304" pitchFamily="18" charset="0"/>
              </a:rPr>
              <a:t>A Linear Regression Analysis of Predictors of Overall Survival Among Breast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Cancer Patients in the METABRIC Dataset</a:t>
            </a:r>
          </a:p>
        </p:txBody>
      </p:sp>
      <p:sp>
        <p:nvSpPr>
          <p:cNvPr id="3" name="Subtitle 2">
            <a:extLst>
              <a:ext uri="{FF2B5EF4-FFF2-40B4-BE49-F238E27FC236}">
                <a16:creationId xmlns:a16="http://schemas.microsoft.com/office/drawing/2014/main" id="{F5F285DE-F35C-56A2-49AD-E29345B1298A}"/>
              </a:ext>
            </a:extLst>
          </p:cNvPr>
          <p:cNvSpPr>
            <a:spLocks noGrp="1"/>
          </p:cNvSpPr>
          <p:nvPr>
            <p:ph type="subTitle"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Presented by: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Daniel Oluwafemi Olofin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Statistical Data Analysis (</a:t>
            </a:r>
            <a:r>
              <a:rPr lang="en-US" dirty="0"/>
              <a:t>STAT 5660G)</a:t>
            </a:r>
          </a:p>
          <a:p>
            <a:r>
              <a:rPr lang="en-US" dirty="0">
                <a:latin typeface="Times New Roman" panose="02020603050405020304" pitchFamily="18" charset="0"/>
                <a:cs typeface="Times New Roman" panose="02020603050405020304" pitchFamily="18" charset="0"/>
              </a:rPr>
              <a:t>Department of Mathematical Sciences,</a:t>
            </a:r>
          </a:p>
          <a:p>
            <a:r>
              <a:rPr lang="en-US" dirty="0">
                <a:latin typeface="Times New Roman" panose="02020603050405020304" pitchFamily="18" charset="0"/>
                <a:cs typeface="Times New Roman" panose="02020603050405020304" pitchFamily="18" charset="0"/>
              </a:rPr>
              <a:t>Georgia Southern University.</a:t>
            </a:r>
          </a:p>
        </p:txBody>
      </p:sp>
      <p:sp>
        <p:nvSpPr>
          <p:cNvPr id="4" name="Rectangle 3">
            <a:extLst>
              <a:ext uri="{FF2B5EF4-FFF2-40B4-BE49-F238E27FC236}">
                <a16:creationId xmlns:a16="http://schemas.microsoft.com/office/drawing/2014/main" id="{3EAC081A-58B5-8A9C-B6EB-728D92B62B0E}"/>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F5231B5-2717-3B22-4137-B76B862F8A9E}"/>
              </a:ext>
            </a:extLst>
          </p:cNvPr>
          <p:cNvSpPr/>
          <p:nvPr/>
        </p:nvSpPr>
        <p:spPr>
          <a:xfrm>
            <a:off x="0" y="6122276"/>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643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4AFF-785F-D561-0A2E-D789FC563498}"/>
              </a:ext>
            </a:extLst>
          </p:cNvPr>
          <p:cNvSpPr>
            <a:spLocks noGrp="1"/>
          </p:cNvSpPr>
          <p:nvPr>
            <p:ph type="title"/>
          </p:nvPr>
        </p:nvSpPr>
        <p:spPr>
          <a:xfrm>
            <a:off x="136634" y="588579"/>
            <a:ext cx="11217166" cy="557048"/>
          </a:xfrm>
        </p:spPr>
        <p:txBody>
          <a:bodyPr>
            <a:normAutofit/>
          </a:bodyPr>
          <a:lstStyle/>
          <a:p>
            <a:r>
              <a:rPr lang="en-US" sz="3200" dirty="0"/>
              <a:t>Abstract:</a:t>
            </a:r>
          </a:p>
        </p:txBody>
      </p:sp>
      <p:sp>
        <p:nvSpPr>
          <p:cNvPr id="3" name="Rectangle 2">
            <a:extLst>
              <a:ext uri="{FF2B5EF4-FFF2-40B4-BE49-F238E27FC236}">
                <a16:creationId xmlns:a16="http://schemas.microsoft.com/office/drawing/2014/main" id="{0A72FD11-BE3A-2A9C-CEAB-ECC9E2739A17}"/>
              </a:ext>
            </a:extLst>
          </p:cNvPr>
          <p:cNvSpPr/>
          <p:nvPr/>
        </p:nvSpPr>
        <p:spPr>
          <a:xfrm>
            <a:off x="0" y="0"/>
            <a:ext cx="12192000" cy="483476"/>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0850F9-C417-8775-16BC-2E98AF202DF1}"/>
              </a:ext>
            </a:extLst>
          </p:cNvPr>
          <p:cNvSpPr/>
          <p:nvPr/>
        </p:nvSpPr>
        <p:spPr>
          <a:xfrm>
            <a:off x="0" y="6300952"/>
            <a:ext cx="12192000" cy="557048"/>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8B07A9E-CD1C-7DDA-4671-7A58BB8A1E42}"/>
              </a:ext>
            </a:extLst>
          </p:cNvPr>
          <p:cNvSpPr/>
          <p:nvPr/>
        </p:nvSpPr>
        <p:spPr>
          <a:xfrm>
            <a:off x="220716" y="1250729"/>
            <a:ext cx="7567450" cy="476118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dirty="0">
                <a:solidFill>
                  <a:schemeClr val="tx2"/>
                </a:solidFill>
                <a:latin typeface="Times New Roman" panose="02020603050405020304" pitchFamily="18" charset="0"/>
                <a:cs typeface="Times New Roman" panose="02020603050405020304" pitchFamily="18" charset="0"/>
              </a:rPr>
              <a:t>This study applied a multiple linear regression model to the METABRIC breast cancer dataset to identify key clinical, molecular, and treatment predictors of overall survival. After data cleaning and selection, 1,815 complete patient records were analyzed using variables such as Age at Diagnosis, Tumor Size, Lymph Nodes Examined Positive, ER Status, HER2 Status, ChemoThis study applied a multiple linear regression model to the METABRIC breast cancer dataset to identify key clinical, molecular, and treatment predictors of overall survival. After data cleaning and selection, </a:t>
            </a:r>
            <a:r>
              <a:rPr lang="en-US" sz="1400" b="1" dirty="0">
                <a:solidFill>
                  <a:schemeClr val="tx2"/>
                </a:solidFill>
                <a:latin typeface="Times New Roman" panose="02020603050405020304" pitchFamily="18" charset="0"/>
                <a:cs typeface="Times New Roman" panose="02020603050405020304" pitchFamily="18" charset="0"/>
              </a:rPr>
              <a:t>1,815</a:t>
            </a:r>
            <a:r>
              <a:rPr lang="en-US" sz="1400" dirty="0">
                <a:solidFill>
                  <a:schemeClr val="tx2"/>
                </a:solidFill>
                <a:latin typeface="Times New Roman" panose="02020603050405020304" pitchFamily="18" charset="0"/>
                <a:cs typeface="Times New Roman" panose="02020603050405020304" pitchFamily="18" charset="0"/>
              </a:rPr>
              <a:t> complete patient records were analyzed using variables such as Age at Diagnosis, Tumor Size, Lymph Nodes Examined Positive, ER Status, HER2 Status, Chemotherapy, and Hormone Therapy. Stepwise AIC selection produced a parsimonious model with strong clinical relevance. Ten-fold cross-validation yielded an average </a:t>
            </a:r>
            <a:r>
              <a:rPr lang="en-US" sz="1400" b="1" dirty="0">
                <a:solidFill>
                  <a:schemeClr val="tx2"/>
                </a:solidFill>
                <a:latin typeface="Times New Roman" panose="02020603050405020304" pitchFamily="18" charset="0"/>
                <a:cs typeface="Times New Roman" panose="02020603050405020304" pitchFamily="18" charset="0"/>
              </a:rPr>
              <a:t>RMSE of 70.81 </a:t>
            </a:r>
            <a:r>
              <a:rPr lang="en-US" sz="1400" dirty="0">
                <a:solidFill>
                  <a:schemeClr val="tx2"/>
                </a:solidFill>
                <a:latin typeface="Times New Roman" panose="02020603050405020304" pitchFamily="18" charset="0"/>
                <a:cs typeface="Times New Roman" panose="02020603050405020304" pitchFamily="18" charset="0"/>
              </a:rPr>
              <a:t>months and </a:t>
            </a:r>
            <a:r>
              <a:rPr lang="en-US" sz="1400" b="1" dirty="0">
                <a:solidFill>
                  <a:schemeClr val="tx2"/>
                </a:solidFill>
                <a:latin typeface="Times New Roman" panose="02020603050405020304" pitchFamily="18" charset="0"/>
                <a:cs typeface="Times New Roman" panose="02020603050405020304" pitchFamily="18" charset="0"/>
              </a:rPr>
              <a:t>R</a:t>
            </a:r>
            <a:r>
              <a:rPr lang="en-US" sz="1400" b="1" baseline="30000" dirty="0">
                <a:solidFill>
                  <a:schemeClr val="tx2"/>
                </a:solidFill>
                <a:latin typeface="Times New Roman" panose="02020603050405020304" pitchFamily="18" charset="0"/>
                <a:cs typeface="Times New Roman" panose="02020603050405020304" pitchFamily="18" charset="0"/>
              </a:rPr>
              <a:t>2 </a:t>
            </a:r>
            <a:r>
              <a:rPr lang="en-US" sz="1400" b="1" dirty="0">
                <a:solidFill>
                  <a:schemeClr val="tx2"/>
                </a:solidFill>
                <a:latin typeface="Times New Roman" panose="02020603050405020304" pitchFamily="18" charset="0"/>
                <a:cs typeface="Times New Roman" panose="02020603050405020304" pitchFamily="18" charset="0"/>
              </a:rPr>
              <a:t>of 0.137</a:t>
            </a:r>
            <a:r>
              <a:rPr lang="en-US" sz="1400" dirty="0">
                <a:solidFill>
                  <a:schemeClr val="tx2"/>
                </a:solidFill>
                <a:latin typeface="Times New Roman" panose="02020603050405020304" pitchFamily="18" charset="0"/>
                <a:cs typeface="Times New Roman" panose="02020603050405020304" pitchFamily="18" charset="0"/>
              </a:rPr>
              <a:t>, while the test set produced </a:t>
            </a:r>
            <a:r>
              <a:rPr lang="en-US" sz="1400" b="1" dirty="0">
                <a:solidFill>
                  <a:schemeClr val="tx2"/>
                </a:solidFill>
                <a:latin typeface="Times New Roman" panose="02020603050405020304" pitchFamily="18" charset="0"/>
                <a:cs typeface="Times New Roman" panose="02020603050405020304" pitchFamily="18" charset="0"/>
              </a:rPr>
              <a:t>RMSE = 70.38</a:t>
            </a:r>
            <a:r>
              <a:rPr lang="en-US" sz="1400" dirty="0">
                <a:solidFill>
                  <a:schemeClr val="tx2"/>
                </a:solidFill>
                <a:latin typeface="Times New Roman" panose="02020603050405020304" pitchFamily="18" charset="0"/>
                <a:cs typeface="Times New Roman" panose="02020603050405020304" pitchFamily="18" charset="0"/>
              </a:rPr>
              <a:t> months and </a:t>
            </a:r>
            <a:r>
              <a:rPr lang="en-US" sz="1400" b="1" dirty="0">
                <a:solidFill>
                  <a:schemeClr val="tx2"/>
                </a:solidFill>
                <a:latin typeface="Times New Roman" panose="02020603050405020304" pitchFamily="18" charset="0"/>
                <a:cs typeface="Times New Roman" panose="02020603050405020304" pitchFamily="18" charset="0"/>
              </a:rPr>
              <a:t>R</a:t>
            </a:r>
            <a:r>
              <a:rPr lang="en-US" sz="1400" b="1" baseline="30000" dirty="0">
                <a:solidFill>
                  <a:schemeClr val="tx2"/>
                </a:solidFill>
                <a:latin typeface="Times New Roman" panose="02020603050405020304" pitchFamily="18" charset="0"/>
                <a:cs typeface="Times New Roman" panose="02020603050405020304" pitchFamily="18" charset="0"/>
              </a:rPr>
              <a:t>2 </a:t>
            </a:r>
            <a:r>
              <a:rPr lang="en-US" sz="1400" b="1" dirty="0">
                <a:solidFill>
                  <a:schemeClr val="tx2"/>
                </a:solidFill>
                <a:latin typeface="Times New Roman" panose="02020603050405020304" pitchFamily="18" charset="0"/>
                <a:cs typeface="Times New Roman" panose="02020603050405020304" pitchFamily="18" charset="0"/>
              </a:rPr>
              <a:t>= 0.154</a:t>
            </a:r>
            <a:r>
              <a:rPr lang="en-US" sz="1400" dirty="0">
                <a:solidFill>
                  <a:schemeClr val="tx2"/>
                </a:solidFill>
                <a:latin typeface="Times New Roman" panose="02020603050405020304" pitchFamily="18" charset="0"/>
                <a:cs typeface="Times New Roman" panose="02020603050405020304" pitchFamily="18" charset="0"/>
              </a:rPr>
              <a:t>, indicating moderate predictive performance. Diagnostic checks confirmed that all linear regression assumptions were met. The findings highlight age, tumor burden, lymph node involvement, and receptor status as major factors influencing survival, consistent with established clinical evidence therapy, and Hormone Therapy. Stepwise AIC selection produced a parsimonious model with strong clinical relevance. Ten-fold cross-validation yielded an average </a:t>
            </a:r>
            <a:r>
              <a:rPr lang="en-US" sz="1400" b="1" dirty="0">
                <a:solidFill>
                  <a:schemeClr val="tx2"/>
                </a:solidFill>
                <a:latin typeface="Times New Roman" panose="02020603050405020304" pitchFamily="18" charset="0"/>
                <a:cs typeface="Times New Roman" panose="02020603050405020304" pitchFamily="18" charset="0"/>
              </a:rPr>
              <a:t>RMSE of 70.81 </a:t>
            </a:r>
            <a:r>
              <a:rPr lang="en-US" sz="1400" dirty="0">
                <a:solidFill>
                  <a:schemeClr val="tx2"/>
                </a:solidFill>
                <a:latin typeface="Times New Roman" panose="02020603050405020304" pitchFamily="18" charset="0"/>
                <a:cs typeface="Times New Roman" panose="02020603050405020304" pitchFamily="18" charset="0"/>
              </a:rPr>
              <a:t>months and </a:t>
            </a:r>
            <a:r>
              <a:rPr lang="en-US" sz="1400" b="1" dirty="0">
                <a:solidFill>
                  <a:schemeClr val="tx2"/>
                </a:solidFill>
                <a:latin typeface="Times New Roman" panose="02020603050405020304" pitchFamily="18" charset="0"/>
                <a:cs typeface="Times New Roman" panose="02020603050405020304" pitchFamily="18" charset="0"/>
              </a:rPr>
              <a:t>R</a:t>
            </a:r>
            <a:r>
              <a:rPr lang="en-US" sz="1400" b="1" baseline="30000" dirty="0">
                <a:solidFill>
                  <a:schemeClr val="tx2"/>
                </a:solidFill>
                <a:latin typeface="Times New Roman" panose="02020603050405020304" pitchFamily="18" charset="0"/>
                <a:cs typeface="Times New Roman" panose="02020603050405020304" pitchFamily="18" charset="0"/>
              </a:rPr>
              <a:t>2 </a:t>
            </a:r>
            <a:r>
              <a:rPr lang="en-US" sz="1400" b="1" dirty="0">
                <a:solidFill>
                  <a:schemeClr val="tx2"/>
                </a:solidFill>
                <a:latin typeface="Times New Roman" panose="02020603050405020304" pitchFamily="18" charset="0"/>
                <a:cs typeface="Times New Roman" panose="02020603050405020304" pitchFamily="18" charset="0"/>
              </a:rPr>
              <a:t>of 0.137</a:t>
            </a:r>
            <a:r>
              <a:rPr lang="en-US" sz="1400" dirty="0">
                <a:solidFill>
                  <a:schemeClr val="tx2"/>
                </a:solidFill>
                <a:latin typeface="Times New Roman" panose="02020603050405020304" pitchFamily="18" charset="0"/>
                <a:cs typeface="Times New Roman" panose="02020603050405020304" pitchFamily="18" charset="0"/>
              </a:rPr>
              <a:t>, while the test set produced RMSE = 70.38 months and </a:t>
            </a:r>
            <a:r>
              <a:rPr lang="en-US" sz="1400" b="1" dirty="0">
                <a:solidFill>
                  <a:schemeClr val="tx2"/>
                </a:solidFill>
                <a:latin typeface="Times New Roman" panose="02020603050405020304" pitchFamily="18" charset="0"/>
                <a:cs typeface="Times New Roman" panose="02020603050405020304" pitchFamily="18" charset="0"/>
              </a:rPr>
              <a:t>R</a:t>
            </a:r>
            <a:r>
              <a:rPr lang="en-US" sz="1400" b="1" baseline="30000" dirty="0">
                <a:solidFill>
                  <a:schemeClr val="tx2"/>
                </a:solidFill>
                <a:latin typeface="Times New Roman" panose="02020603050405020304" pitchFamily="18" charset="0"/>
                <a:cs typeface="Times New Roman" panose="02020603050405020304" pitchFamily="18" charset="0"/>
              </a:rPr>
              <a:t>2 </a:t>
            </a:r>
            <a:r>
              <a:rPr lang="en-US" sz="1400" b="1" dirty="0">
                <a:solidFill>
                  <a:schemeClr val="tx2"/>
                </a:solidFill>
                <a:latin typeface="Times New Roman" panose="02020603050405020304" pitchFamily="18" charset="0"/>
                <a:cs typeface="Times New Roman" panose="02020603050405020304" pitchFamily="18" charset="0"/>
              </a:rPr>
              <a:t>= 0.154</a:t>
            </a:r>
            <a:r>
              <a:rPr lang="en-US" sz="1400" dirty="0">
                <a:solidFill>
                  <a:schemeClr val="tx2"/>
                </a:solidFill>
                <a:latin typeface="Times New Roman" panose="02020603050405020304" pitchFamily="18" charset="0"/>
                <a:cs typeface="Times New Roman" panose="02020603050405020304" pitchFamily="18" charset="0"/>
              </a:rPr>
              <a:t>, indicating moderate predictive performance. Diagnostic checks confirmed that all linear regression assumptions were met. The findings highlight age, tumor burden, lymph node involvement, and receptor status as major factors influencing survival, consistent with established clinical evidence.</a:t>
            </a:r>
          </a:p>
        </p:txBody>
      </p:sp>
      <p:sp>
        <p:nvSpPr>
          <p:cNvPr id="7" name="Rounded Rectangle 6">
            <a:extLst>
              <a:ext uri="{FF2B5EF4-FFF2-40B4-BE49-F238E27FC236}">
                <a16:creationId xmlns:a16="http://schemas.microsoft.com/office/drawing/2014/main" id="{479D21B7-45C9-074F-515C-F4A07FF80C78}"/>
              </a:ext>
            </a:extLst>
          </p:cNvPr>
          <p:cNvSpPr/>
          <p:nvPr/>
        </p:nvSpPr>
        <p:spPr>
          <a:xfrm>
            <a:off x="7977351" y="588579"/>
            <a:ext cx="3920360" cy="2501462"/>
          </a:xfrm>
          <a:prstGeom prst="roundRect">
            <a:avLst/>
          </a:prstGeom>
          <a:solidFill>
            <a:schemeClr val="tx2">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2"/>
                </a:solidFill>
              </a:rPr>
              <a:t>Motivation:</a:t>
            </a:r>
            <a:br>
              <a:rPr lang="en-US" dirty="0">
                <a:solidFill>
                  <a:schemeClr val="tx2"/>
                </a:solidFill>
              </a:rPr>
            </a:br>
            <a:r>
              <a:rPr lang="en-US" dirty="0">
                <a:solidFill>
                  <a:schemeClr val="tx2"/>
                </a:solidFill>
              </a:rPr>
              <a:t>I chose to work with breast cancer data because my long-term goal of developing and  applying statistical and machine-learning methods to improve clinical decision-making in oncology.</a:t>
            </a:r>
          </a:p>
        </p:txBody>
      </p:sp>
      <p:sp>
        <p:nvSpPr>
          <p:cNvPr id="8" name="Rounded Rectangle 7">
            <a:extLst>
              <a:ext uri="{FF2B5EF4-FFF2-40B4-BE49-F238E27FC236}">
                <a16:creationId xmlns:a16="http://schemas.microsoft.com/office/drawing/2014/main" id="{1250519F-A8A9-8C15-CC29-11C1354963ED}"/>
              </a:ext>
            </a:extLst>
          </p:cNvPr>
          <p:cNvSpPr/>
          <p:nvPr/>
        </p:nvSpPr>
        <p:spPr>
          <a:xfrm>
            <a:off x="7977351" y="3379077"/>
            <a:ext cx="3920360" cy="2890343"/>
          </a:xfrm>
          <a:prstGeom prst="roundRect">
            <a:avLst/>
          </a:prstGeom>
          <a:solidFill>
            <a:schemeClr val="tx2">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2"/>
                </a:solidFill>
              </a:rPr>
              <a:t>Introduction:</a:t>
            </a:r>
            <a:br>
              <a:rPr lang="en-US" dirty="0">
                <a:solidFill>
                  <a:schemeClr val="tx2"/>
                </a:solidFill>
              </a:rPr>
            </a:br>
            <a:r>
              <a:rPr lang="en-US" dirty="0">
                <a:solidFill>
                  <a:schemeClr val="tx2"/>
                </a:solidFill>
              </a:rPr>
              <a:t>Female breast cancer has surpassed lung cancer as the most commonly diagnosed cancer worldwide, with an estimated 2.3 million new cases (11.7%), followed by lung (11.4%), colorectal (10.0%), prostate (7.3%), and stomach (5.6%) cancers (Sung et al., 2021).</a:t>
            </a:r>
          </a:p>
        </p:txBody>
      </p:sp>
    </p:spTree>
    <p:extLst>
      <p:ext uri="{BB962C8B-B14F-4D97-AF65-F5344CB8AC3E}">
        <p14:creationId xmlns:p14="http://schemas.microsoft.com/office/powerpoint/2010/main" val="2012930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0A97-B90A-53BE-6B34-A29908C497E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4E550D-0910-5060-155F-2BA3CEF7DA4A}"/>
              </a:ext>
            </a:extLst>
          </p:cNvPr>
          <p:cNvSpPr/>
          <p:nvPr/>
        </p:nvSpPr>
        <p:spPr>
          <a:xfrm>
            <a:off x="0" y="0"/>
            <a:ext cx="12192000" cy="483476"/>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DD6F0F2-A1CC-995D-2641-9111D1AE9228}"/>
              </a:ext>
            </a:extLst>
          </p:cNvPr>
          <p:cNvSpPr/>
          <p:nvPr/>
        </p:nvSpPr>
        <p:spPr>
          <a:xfrm>
            <a:off x="0" y="6300952"/>
            <a:ext cx="12192000" cy="557048"/>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diagram of a model&#10;&#10;AI-generated content may be incorrect.">
            <a:extLst>
              <a:ext uri="{FF2B5EF4-FFF2-40B4-BE49-F238E27FC236}">
                <a16:creationId xmlns:a16="http://schemas.microsoft.com/office/drawing/2014/main" id="{6D32F296-9A1A-F4C6-EDF4-1F803C345BFD}"/>
              </a:ext>
            </a:extLst>
          </p:cNvPr>
          <p:cNvPicPr>
            <a:picLocks noChangeAspect="1"/>
          </p:cNvPicPr>
          <p:nvPr/>
        </p:nvPicPr>
        <p:blipFill>
          <a:blip r:embed="rId2"/>
          <a:stretch>
            <a:fillRect/>
          </a:stretch>
        </p:blipFill>
        <p:spPr>
          <a:xfrm>
            <a:off x="165537" y="662152"/>
            <a:ext cx="3218793" cy="5507419"/>
          </a:xfrm>
          <a:prstGeom prst="rect">
            <a:avLst/>
          </a:prstGeom>
        </p:spPr>
      </p:pic>
      <p:pic>
        <p:nvPicPr>
          <p:cNvPr id="15" name="Picture 14" descr="A graph of a bar chart&#10;&#10;AI-generated content may be incorrect.">
            <a:extLst>
              <a:ext uri="{FF2B5EF4-FFF2-40B4-BE49-F238E27FC236}">
                <a16:creationId xmlns:a16="http://schemas.microsoft.com/office/drawing/2014/main" id="{6C470280-4C65-2FC4-8653-15FF4A1D586F}"/>
              </a:ext>
            </a:extLst>
          </p:cNvPr>
          <p:cNvPicPr>
            <a:picLocks noChangeAspect="1"/>
          </p:cNvPicPr>
          <p:nvPr/>
        </p:nvPicPr>
        <p:blipFill>
          <a:blip r:embed="rId3"/>
          <a:stretch>
            <a:fillRect/>
          </a:stretch>
        </p:blipFill>
        <p:spPr>
          <a:xfrm>
            <a:off x="3720662" y="1453053"/>
            <a:ext cx="8108731" cy="4716518"/>
          </a:xfrm>
          <a:prstGeom prst="rect">
            <a:avLst/>
          </a:prstGeom>
        </p:spPr>
      </p:pic>
      <p:sp>
        <p:nvSpPr>
          <p:cNvPr id="16" name="TextBox 15">
            <a:extLst>
              <a:ext uri="{FF2B5EF4-FFF2-40B4-BE49-F238E27FC236}">
                <a16:creationId xmlns:a16="http://schemas.microsoft.com/office/drawing/2014/main" id="{6DBFA138-E682-F8AA-572D-DFB36615B841}"/>
              </a:ext>
            </a:extLst>
          </p:cNvPr>
          <p:cNvSpPr txBox="1"/>
          <p:nvPr/>
        </p:nvSpPr>
        <p:spPr>
          <a:xfrm>
            <a:off x="3909848" y="662152"/>
            <a:ext cx="424618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Visualization Missingness </a:t>
            </a:r>
          </a:p>
        </p:txBody>
      </p:sp>
    </p:spTree>
    <p:extLst>
      <p:ext uri="{BB962C8B-B14F-4D97-AF65-F5344CB8AC3E}">
        <p14:creationId xmlns:p14="http://schemas.microsoft.com/office/powerpoint/2010/main" val="3714957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6F0C7-7ED2-AA6B-A9A0-FB8358E283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F6B874C-077D-D839-B51B-7FC30382F329}"/>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2356696-BE4E-38A9-E9B5-BDCE3369CC0F}"/>
              </a:ext>
            </a:extLst>
          </p:cNvPr>
          <p:cNvSpPr/>
          <p:nvPr/>
        </p:nvSpPr>
        <p:spPr>
          <a:xfrm>
            <a:off x="0" y="6122276"/>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F702859-9383-F4B7-86DE-FBCAD8D0D548}"/>
              </a:ext>
            </a:extLst>
          </p:cNvPr>
          <p:cNvSpPr txBox="1"/>
          <p:nvPr/>
        </p:nvSpPr>
        <p:spPr>
          <a:xfrm>
            <a:off x="325821" y="809297"/>
            <a:ext cx="2858813" cy="369332"/>
          </a:xfrm>
          <a:prstGeom prst="rect">
            <a:avLst/>
          </a:prstGeom>
          <a:noFill/>
        </p:spPr>
        <p:txBody>
          <a:bodyPr wrap="square" rtlCol="0">
            <a:spAutoFit/>
          </a:bodyPr>
          <a:lstStyle/>
          <a:p>
            <a:r>
              <a:rPr lang="en-US" b="1" dirty="0"/>
              <a:t>Data visualization:</a:t>
            </a:r>
          </a:p>
        </p:txBody>
      </p:sp>
      <p:pic>
        <p:nvPicPr>
          <p:cNvPr id="15" name="Picture 14" descr="A group of blue bars&#10;&#10;AI-generated content may be incorrect.">
            <a:extLst>
              <a:ext uri="{FF2B5EF4-FFF2-40B4-BE49-F238E27FC236}">
                <a16:creationId xmlns:a16="http://schemas.microsoft.com/office/drawing/2014/main" id="{9EF3004B-2C4D-228D-0A11-2700347EE84E}"/>
              </a:ext>
            </a:extLst>
          </p:cNvPr>
          <p:cNvPicPr>
            <a:picLocks noChangeAspect="1"/>
          </p:cNvPicPr>
          <p:nvPr/>
        </p:nvPicPr>
        <p:blipFill>
          <a:blip r:embed="rId2"/>
          <a:stretch>
            <a:fillRect/>
          </a:stretch>
        </p:blipFill>
        <p:spPr>
          <a:xfrm>
            <a:off x="153904" y="1252201"/>
            <a:ext cx="6131282" cy="4574827"/>
          </a:xfrm>
          <a:prstGeom prst="rect">
            <a:avLst/>
          </a:prstGeom>
        </p:spPr>
      </p:pic>
      <p:pic>
        <p:nvPicPr>
          <p:cNvPr id="17" name="Picture 16" descr="A screenshot of a graph&#10;&#10;AI-generated content may be incorrect.">
            <a:extLst>
              <a:ext uri="{FF2B5EF4-FFF2-40B4-BE49-F238E27FC236}">
                <a16:creationId xmlns:a16="http://schemas.microsoft.com/office/drawing/2014/main" id="{D9194D47-D847-0D5A-381F-DECEA6F759F9}"/>
              </a:ext>
            </a:extLst>
          </p:cNvPr>
          <p:cNvPicPr>
            <a:picLocks noChangeAspect="1"/>
          </p:cNvPicPr>
          <p:nvPr/>
        </p:nvPicPr>
        <p:blipFill>
          <a:blip r:embed="rId3"/>
          <a:stretch>
            <a:fillRect/>
          </a:stretch>
        </p:blipFill>
        <p:spPr>
          <a:xfrm>
            <a:off x="6095999" y="1178629"/>
            <a:ext cx="5807813" cy="4648399"/>
          </a:xfrm>
          <a:prstGeom prst="rect">
            <a:avLst/>
          </a:prstGeom>
        </p:spPr>
      </p:pic>
    </p:spTree>
    <p:extLst>
      <p:ext uri="{BB962C8B-B14F-4D97-AF65-F5344CB8AC3E}">
        <p14:creationId xmlns:p14="http://schemas.microsoft.com/office/powerpoint/2010/main" val="237708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A4E05-E662-78A2-EA65-5F115BB69B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CC3CD8-451E-847A-C0DF-9B2C33053F6B}"/>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827A94B-0862-FFF9-B5DB-83356D967082}"/>
              </a:ext>
            </a:extLst>
          </p:cNvPr>
          <p:cNvSpPr/>
          <p:nvPr/>
        </p:nvSpPr>
        <p:spPr>
          <a:xfrm>
            <a:off x="0" y="6122276"/>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0899012-0A15-1B07-81BA-8A1D604E6650}"/>
              </a:ext>
            </a:extLst>
          </p:cNvPr>
          <p:cNvSpPr txBox="1"/>
          <p:nvPr/>
        </p:nvSpPr>
        <p:spPr>
          <a:xfrm>
            <a:off x="325821" y="809297"/>
            <a:ext cx="2858813" cy="369332"/>
          </a:xfrm>
          <a:prstGeom prst="rect">
            <a:avLst/>
          </a:prstGeom>
          <a:noFill/>
        </p:spPr>
        <p:txBody>
          <a:bodyPr wrap="square" rtlCol="0">
            <a:spAutoFit/>
          </a:bodyPr>
          <a:lstStyle/>
          <a:p>
            <a:r>
              <a:rPr lang="en-US" dirty="0"/>
              <a:t>Modeling:</a:t>
            </a:r>
          </a:p>
        </p:txBody>
      </p:sp>
      <p:sp>
        <p:nvSpPr>
          <p:cNvPr id="6" name="TextBox 5">
            <a:extLst>
              <a:ext uri="{FF2B5EF4-FFF2-40B4-BE49-F238E27FC236}">
                <a16:creationId xmlns:a16="http://schemas.microsoft.com/office/drawing/2014/main" id="{20CAB5EF-B530-417C-364E-BCE462EAD323}"/>
              </a:ext>
            </a:extLst>
          </p:cNvPr>
          <p:cNvSpPr txBox="1"/>
          <p:nvPr/>
        </p:nvSpPr>
        <p:spPr>
          <a:xfrm>
            <a:off x="325821" y="1282262"/>
            <a:ext cx="10594760" cy="646331"/>
          </a:xfrm>
          <a:prstGeom prst="rect">
            <a:avLst/>
          </a:prstGeom>
          <a:noFill/>
        </p:spPr>
        <p:txBody>
          <a:bodyPr wrap="none" rtlCol="0">
            <a:spAutoFit/>
          </a:bodyPr>
          <a:lstStyle/>
          <a:p>
            <a:r>
              <a:rPr lang="en-US" dirty="0"/>
              <a:t>OS (Months) = </a:t>
            </a:r>
            <a:r>
              <a:rPr lang="el-GR" dirty="0"/>
              <a:t>β₀ + β₁(</a:t>
            </a:r>
            <a:r>
              <a:rPr lang="en-US" dirty="0"/>
              <a:t>Age) + </a:t>
            </a:r>
            <a:r>
              <a:rPr lang="el-GR" dirty="0"/>
              <a:t>β₂(</a:t>
            </a:r>
            <a:r>
              <a:rPr lang="en-US" dirty="0"/>
              <a:t>Tumor Size) + </a:t>
            </a:r>
            <a:r>
              <a:rPr lang="el-GR" dirty="0"/>
              <a:t>β₃(</a:t>
            </a:r>
            <a:r>
              <a:rPr lang="en-US" dirty="0"/>
              <a:t>Grade) + </a:t>
            </a:r>
            <a:r>
              <a:rPr lang="el-GR" dirty="0"/>
              <a:t>β₄(</a:t>
            </a:r>
            <a:r>
              <a:rPr lang="en-US" dirty="0"/>
              <a:t>Lymph Nodes +) + </a:t>
            </a:r>
            <a:r>
              <a:rPr lang="el-GR" dirty="0"/>
              <a:t>β₅(</a:t>
            </a:r>
            <a:r>
              <a:rPr lang="en-US" dirty="0"/>
              <a:t>ER) + </a:t>
            </a:r>
            <a:r>
              <a:rPr lang="el-GR" dirty="0"/>
              <a:t>β₆(</a:t>
            </a:r>
            <a:r>
              <a:rPr lang="en-US" dirty="0"/>
              <a:t>PR) + </a:t>
            </a:r>
            <a:r>
              <a:rPr lang="el-GR" dirty="0"/>
              <a:t>β₇(</a:t>
            </a:r>
            <a:r>
              <a:rPr lang="en-US" dirty="0"/>
              <a:t>HER2) +</a:t>
            </a:r>
          </a:p>
          <a:p>
            <a:r>
              <a:rPr lang="en-US" dirty="0"/>
              <a:t>					 </a:t>
            </a:r>
            <a:r>
              <a:rPr lang="el-GR" dirty="0"/>
              <a:t>β₈(</a:t>
            </a:r>
            <a:r>
              <a:rPr lang="en-US" dirty="0"/>
              <a:t>Chemo) + </a:t>
            </a:r>
            <a:r>
              <a:rPr lang="el-GR" dirty="0"/>
              <a:t>β₉(</a:t>
            </a:r>
            <a:r>
              <a:rPr lang="en-US" dirty="0"/>
              <a:t>Hormone Tx) </a:t>
            </a:r>
          </a:p>
        </p:txBody>
      </p:sp>
      <p:pic>
        <p:nvPicPr>
          <p:cNvPr id="8" name="Picture 7" descr="A table with numbers and text&#10;&#10;AI-generated content may be incorrect.">
            <a:extLst>
              <a:ext uri="{FF2B5EF4-FFF2-40B4-BE49-F238E27FC236}">
                <a16:creationId xmlns:a16="http://schemas.microsoft.com/office/drawing/2014/main" id="{F7B5E89D-AFF6-AB6E-2B24-7B55B5DF4AD6}"/>
              </a:ext>
            </a:extLst>
          </p:cNvPr>
          <p:cNvPicPr>
            <a:picLocks noChangeAspect="1"/>
          </p:cNvPicPr>
          <p:nvPr/>
        </p:nvPicPr>
        <p:blipFill>
          <a:blip r:embed="rId2"/>
          <a:stretch>
            <a:fillRect/>
          </a:stretch>
        </p:blipFill>
        <p:spPr>
          <a:xfrm>
            <a:off x="325821" y="2226910"/>
            <a:ext cx="6978869" cy="3597048"/>
          </a:xfrm>
          <a:prstGeom prst="rect">
            <a:avLst/>
          </a:prstGeom>
        </p:spPr>
      </p:pic>
      <p:pic>
        <p:nvPicPr>
          <p:cNvPr id="11" name="Picture 10" descr="A screenshot of a table&#10;&#10;AI-generated content may be incorrect.">
            <a:extLst>
              <a:ext uri="{FF2B5EF4-FFF2-40B4-BE49-F238E27FC236}">
                <a16:creationId xmlns:a16="http://schemas.microsoft.com/office/drawing/2014/main" id="{304B0394-2243-55F7-FC4C-FC15944B6E77}"/>
              </a:ext>
            </a:extLst>
          </p:cNvPr>
          <p:cNvPicPr>
            <a:picLocks noChangeAspect="1"/>
          </p:cNvPicPr>
          <p:nvPr/>
        </p:nvPicPr>
        <p:blipFill>
          <a:blip r:embed="rId3"/>
          <a:stretch>
            <a:fillRect/>
          </a:stretch>
        </p:blipFill>
        <p:spPr>
          <a:xfrm>
            <a:off x="7304690" y="3234482"/>
            <a:ext cx="4435365" cy="2444889"/>
          </a:xfrm>
          <a:prstGeom prst="rect">
            <a:avLst/>
          </a:prstGeom>
        </p:spPr>
      </p:pic>
      <p:pic>
        <p:nvPicPr>
          <p:cNvPr id="13" name="Picture 12" descr="A screenshot of a table&#10;&#10;AI-generated content may be incorrect.">
            <a:extLst>
              <a:ext uri="{FF2B5EF4-FFF2-40B4-BE49-F238E27FC236}">
                <a16:creationId xmlns:a16="http://schemas.microsoft.com/office/drawing/2014/main" id="{B6CF2780-6E43-E1C2-366E-BF0637AB2747}"/>
              </a:ext>
            </a:extLst>
          </p:cNvPr>
          <p:cNvPicPr>
            <a:picLocks noChangeAspect="1"/>
          </p:cNvPicPr>
          <p:nvPr/>
        </p:nvPicPr>
        <p:blipFill>
          <a:blip r:embed="rId3"/>
          <a:stretch>
            <a:fillRect/>
          </a:stretch>
        </p:blipFill>
        <p:spPr>
          <a:xfrm>
            <a:off x="7457090" y="3386882"/>
            <a:ext cx="4435365" cy="2444889"/>
          </a:xfrm>
          <a:prstGeom prst="rect">
            <a:avLst/>
          </a:prstGeom>
        </p:spPr>
      </p:pic>
    </p:spTree>
    <p:extLst>
      <p:ext uri="{BB962C8B-B14F-4D97-AF65-F5344CB8AC3E}">
        <p14:creationId xmlns:p14="http://schemas.microsoft.com/office/powerpoint/2010/main" val="3344677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6C66D-4C3E-BC10-D33D-46A257AE9F6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02B3B91-C2AC-93A1-3EA7-C55B05C0CDA1}"/>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355F076-6160-7AD3-8CE1-47C46BE034C3}"/>
              </a:ext>
            </a:extLst>
          </p:cNvPr>
          <p:cNvSpPr/>
          <p:nvPr/>
        </p:nvSpPr>
        <p:spPr>
          <a:xfrm>
            <a:off x="0" y="6122276"/>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5AA1C26-6F3B-AE17-589E-F40D8622B834}"/>
              </a:ext>
            </a:extLst>
          </p:cNvPr>
          <p:cNvSpPr txBox="1"/>
          <p:nvPr/>
        </p:nvSpPr>
        <p:spPr>
          <a:xfrm>
            <a:off x="325821" y="809297"/>
            <a:ext cx="8870731" cy="369332"/>
          </a:xfrm>
          <a:prstGeom prst="rect">
            <a:avLst/>
          </a:prstGeom>
          <a:noFill/>
        </p:spPr>
        <p:txBody>
          <a:bodyPr wrap="square" rtlCol="0">
            <a:spAutoFit/>
          </a:bodyPr>
          <a:lstStyle/>
          <a:p>
            <a:r>
              <a:rPr lang="en-US" b="1" dirty="0"/>
              <a:t>Selection Model for Predictor and comparative Model between full and half model:</a:t>
            </a:r>
          </a:p>
        </p:txBody>
      </p:sp>
      <p:pic>
        <p:nvPicPr>
          <p:cNvPr id="9" name="Picture 8" descr="A graph with numbers and lines&#10;&#10;AI-generated content may be incorrect.">
            <a:extLst>
              <a:ext uri="{FF2B5EF4-FFF2-40B4-BE49-F238E27FC236}">
                <a16:creationId xmlns:a16="http://schemas.microsoft.com/office/drawing/2014/main" id="{50FA4C9C-5E5C-5E99-1F9E-F38ABD7F2122}"/>
              </a:ext>
            </a:extLst>
          </p:cNvPr>
          <p:cNvPicPr>
            <a:picLocks noChangeAspect="1"/>
          </p:cNvPicPr>
          <p:nvPr/>
        </p:nvPicPr>
        <p:blipFill>
          <a:blip r:embed="rId2"/>
          <a:stretch>
            <a:fillRect/>
          </a:stretch>
        </p:blipFill>
        <p:spPr>
          <a:xfrm>
            <a:off x="189187" y="1252202"/>
            <a:ext cx="5381296" cy="4796501"/>
          </a:xfrm>
          <a:prstGeom prst="rect">
            <a:avLst/>
          </a:prstGeom>
        </p:spPr>
      </p:pic>
      <p:pic>
        <p:nvPicPr>
          <p:cNvPr id="14" name="Picture 13" descr="A diagram of a model comparison&#10;&#10;AI-generated content may be incorrect.">
            <a:extLst>
              <a:ext uri="{FF2B5EF4-FFF2-40B4-BE49-F238E27FC236}">
                <a16:creationId xmlns:a16="http://schemas.microsoft.com/office/drawing/2014/main" id="{BA93C690-C131-8701-22F2-C5752CF25DFC}"/>
              </a:ext>
            </a:extLst>
          </p:cNvPr>
          <p:cNvPicPr>
            <a:picLocks noChangeAspect="1"/>
          </p:cNvPicPr>
          <p:nvPr/>
        </p:nvPicPr>
        <p:blipFill>
          <a:blip r:embed="rId3"/>
          <a:stretch>
            <a:fillRect/>
          </a:stretch>
        </p:blipFill>
        <p:spPr>
          <a:xfrm>
            <a:off x="5738648" y="1252202"/>
            <a:ext cx="6080673" cy="4796501"/>
          </a:xfrm>
          <a:prstGeom prst="rect">
            <a:avLst/>
          </a:prstGeom>
        </p:spPr>
      </p:pic>
    </p:spTree>
    <p:extLst>
      <p:ext uri="{BB962C8B-B14F-4D97-AF65-F5344CB8AC3E}">
        <p14:creationId xmlns:p14="http://schemas.microsoft.com/office/powerpoint/2010/main" val="3701147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5394D-7C73-982D-8746-360E603AFDC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67CA5C-3773-CF32-C1ED-BCD3D1BB6D9F}"/>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26DA946-2B26-B387-FC0A-431236854330}"/>
              </a:ext>
            </a:extLst>
          </p:cNvPr>
          <p:cNvSpPr/>
          <p:nvPr/>
        </p:nvSpPr>
        <p:spPr>
          <a:xfrm>
            <a:off x="0" y="6122276"/>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B231DA8-B164-0FD7-69C4-4AE2DA743D74}"/>
              </a:ext>
            </a:extLst>
          </p:cNvPr>
          <p:cNvSpPr txBox="1"/>
          <p:nvPr/>
        </p:nvSpPr>
        <p:spPr>
          <a:xfrm>
            <a:off x="325821" y="809297"/>
            <a:ext cx="8870731" cy="369332"/>
          </a:xfrm>
          <a:prstGeom prst="rect">
            <a:avLst/>
          </a:prstGeom>
          <a:noFill/>
        </p:spPr>
        <p:txBody>
          <a:bodyPr wrap="square" rtlCol="0">
            <a:spAutoFit/>
          </a:bodyPr>
          <a:lstStyle/>
          <a:p>
            <a:r>
              <a:rPr lang="en-US" b="1" dirty="0"/>
              <a:t>Model Performance and Test Evaluation:</a:t>
            </a:r>
          </a:p>
        </p:txBody>
      </p:sp>
      <p:sp>
        <p:nvSpPr>
          <p:cNvPr id="2" name="Rectangle 1">
            <a:extLst>
              <a:ext uri="{FF2B5EF4-FFF2-40B4-BE49-F238E27FC236}">
                <a16:creationId xmlns:a16="http://schemas.microsoft.com/office/drawing/2014/main" id="{75D4958F-1886-F19C-C262-A9F2FDB65349}"/>
              </a:ext>
            </a:extLst>
          </p:cNvPr>
          <p:cNvSpPr/>
          <p:nvPr/>
        </p:nvSpPr>
        <p:spPr>
          <a:xfrm>
            <a:off x="325821" y="1324303"/>
            <a:ext cx="5486400" cy="4724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
            </a:r>
          </a:p>
        </p:txBody>
      </p:sp>
      <p:pic>
        <p:nvPicPr>
          <p:cNvPr id="6" name="Picture 5" descr="A white background with black and white clouds&#10;&#10;AI-generated content may be incorrect.">
            <a:extLst>
              <a:ext uri="{FF2B5EF4-FFF2-40B4-BE49-F238E27FC236}">
                <a16:creationId xmlns:a16="http://schemas.microsoft.com/office/drawing/2014/main" id="{D08EDD08-74BD-AF19-580E-005ED74E2132}"/>
              </a:ext>
            </a:extLst>
          </p:cNvPr>
          <p:cNvPicPr>
            <a:picLocks noChangeAspect="1"/>
          </p:cNvPicPr>
          <p:nvPr/>
        </p:nvPicPr>
        <p:blipFill>
          <a:blip r:embed="rId2"/>
          <a:stretch>
            <a:fillRect/>
          </a:stretch>
        </p:blipFill>
        <p:spPr>
          <a:xfrm>
            <a:off x="325821" y="1324303"/>
            <a:ext cx="4803228" cy="1190757"/>
          </a:xfrm>
          <a:prstGeom prst="rect">
            <a:avLst/>
          </a:prstGeom>
        </p:spPr>
      </p:pic>
      <p:pic>
        <p:nvPicPr>
          <p:cNvPr id="8" name="Picture 7" descr="A close-up of a white paper&#10;&#10;AI-generated content may be incorrect.">
            <a:extLst>
              <a:ext uri="{FF2B5EF4-FFF2-40B4-BE49-F238E27FC236}">
                <a16:creationId xmlns:a16="http://schemas.microsoft.com/office/drawing/2014/main" id="{097FFB70-8935-36E4-F5AB-F820A111A76E}"/>
              </a:ext>
            </a:extLst>
          </p:cNvPr>
          <p:cNvPicPr>
            <a:picLocks noChangeAspect="1"/>
          </p:cNvPicPr>
          <p:nvPr/>
        </p:nvPicPr>
        <p:blipFill>
          <a:blip r:embed="rId3"/>
          <a:stretch>
            <a:fillRect/>
          </a:stretch>
        </p:blipFill>
        <p:spPr>
          <a:xfrm>
            <a:off x="325821" y="2660734"/>
            <a:ext cx="5129048" cy="2274020"/>
          </a:xfrm>
          <a:prstGeom prst="rect">
            <a:avLst/>
          </a:prstGeom>
        </p:spPr>
      </p:pic>
      <p:sp>
        <p:nvSpPr>
          <p:cNvPr id="11" name="TextBox 10">
            <a:extLst>
              <a:ext uri="{FF2B5EF4-FFF2-40B4-BE49-F238E27FC236}">
                <a16:creationId xmlns:a16="http://schemas.microsoft.com/office/drawing/2014/main" id="{B506ACE1-92E4-DE53-296E-8D367B458B59}"/>
              </a:ext>
            </a:extLst>
          </p:cNvPr>
          <p:cNvSpPr txBox="1"/>
          <p:nvPr/>
        </p:nvSpPr>
        <p:spPr>
          <a:xfrm>
            <a:off x="557048" y="5213131"/>
            <a:ext cx="4572001" cy="738664"/>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The 10-fold cross-validation results indicate that the linear regression model performed consistently across all folds, using 1,455 samples and 7 predictors.</a:t>
            </a:r>
          </a:p>
        </p:txBody>
      </p:sp>
      <p:pic>
        <p:nvPicPr>
          <p:cNvPr id="16" name="Picture 15" descr="A black text on a white background&#10;&#10;AI-generated content may be incorrect.">
            <a:extLst>
              <a:ext uri="{FF2B5EF4-FFF2-40B4-BE49-F238E27FC236}">
                <a16:creationId xmlns:a16="http://schemas.microsoft.com/office/drawing/2014/main" id="{1FF03DC7-2C71-125C-6F02-392D32F21E99}"/>
              </a:ext>
            </a:extLst>
          </p:cNvPr>
          <p:cNvPicPr>
            <a:picLocks noChangeAspect="1"/>
          </p:cNvPicPr>
          <p:nvPr/>
        </p:nvPicPr>
        <p:blipFill>
          <a:blip r:embed="rId4"/>
          <a:stretch>
            <a:fillRect/>
          </a:stretch>
        </p:blipFill>
        <p:spPr>
          <a:xfrm>
            <a:off x="6400802" y="2000334"/>
            <a:ext cx="3403600" cy="1320800"/>
          </a:xfrm>
          <a:prstGeom prst="rect">
            <a:avLst/>
          </a:prstGeom>
        </p:spPr>
      </p:pic>
      <p:sp>
        <p:nvSpPr>
          <p:cNvPr id="17" name="TextBox 16">
            <a:extLst>
              <a:ext uri="{FF2B5EF4-FFF2-40B4-BE49-F238E27FC236}">
                <a16:creationId xmlns:a16="http://schemas.microsoft.com/office/drawing/2014/main" id="{BDE4E1A6-CC38-22EF-B6B5-C8830EE7A0EB}"/>
              </a:ext>
            </a:extLst>
          </p:cNvPr>
          <p:cNvSpPr txBox="1"/>
          <p:nvPr/>
        </p:nvSpPr>
        <p:spPr>
          <a:xfrm>
            <a:off x="6663559" y="1397876"/>
            <a:ext cx="4162096" cy="369332"/>
          </a:xfrm>
          <a:prstGeom prst="rect">
            <a:avLst/>
          </a:prstGeom>
          <a:noFill/>
        </p:spPr>
        <p:txBody>
          <a:bodyPr wrap="square" rtlCol="0">
            <a:spAutoFit/>
          </a:bodyPr>
          <a:lstStyle/>
          <a:p>
            <a:r>
              <a:rPr lang="en-US" b="1" dirty="0"/>
              <a:t>Test Evaluation:</a:t>
            </a:r>
          </a:p>
        </p:txBody>
      </p:sp>
      <p:sp>
        <p:nvSpPr>
          <p:cNvPr id="18" name="TextBox 17">
            <a:extLst>
              <a:ext uri="{FF2B5EF4-FFF2-40B4-BE49-F238E27FC236}">
                <a16:creationId xmlns:a16="http://schemas.microsoft.com/office/drawing/2014/main" id="{A3545DFA-1448-030F-2695-0D98699AC2FF}"/>
              </a:ext>
            </a:extLst>
          </p:cNvPr>
          <p:cNvSpPr txBox="1"/>
          <p:nvPr/>
        </p:nvSpPr>
        <p:spPr>
          <a:xfrm>
            <a:off x="6306206" y="3686503"/>
            <a:ext cx="5812221"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model’s performance was tested on unseen data to assess generalization.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test set results show a Root Mean Square Error (RMSE) of 70.38 months and an R-squared R</a:t>
            </a:r>
            <a:r>
              <a:rPr lang="en-US" baseline="30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value of 0.154. This means the model explains about 15.4% of the variation in overall survival among patients in the test data. </a:t>
            </a:r>
          </a:p>
        </p:txBody>
      </p:sp>
    </p:spTree>
    <p:extLst>
      <p:ext uri="{BB962C8B-B14F-4D97-AF65-F5344CB8AC3E}">
        <p14:creationId xmlns:p14="http://schemas.microsoft.com/office/powerpoint/2010/main" val="2760713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62C47-4ECB-7AAE-DAF2-2DEB727526E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89C376-9DC6-D78C-A1FD-E2E30A0D0CAD}"/>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A5B6663-7831-68A0-3EBA-4712DF3A981D}"/>
              </a:ext>
            </a:extLst>
          </p:cNvPr>
          <p:cNvSpPr/>
          <p:nvPr/>
        </p:nvSpPr>
        <p:spPr>
          <a:xfrm>
            <a:off x="0" y="6122276"/>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0DE8A7E-8D93-DFDB-E385-0D452DF125C9}"/>
              </a:ext>
            </a:extLst>
          </p:cNvPr>
          <p:cNvSpPr txBox="1"/>
          <p:nvPr/>
        </p:nvSpPr>
        <p:spPr>
          <a:xfrm>
            <a:off x="325821" y="809297"/>
            <a:ext cx="8870731" cy="369332"/>
          </a:xfrm>
          <a:prstGeom prst="rect">
            <a:avLst/>
          </a:prstGeom>
          <a:noFill/>
        </p:spPr>
        <p:txBody>
          <a:bodyPr wrap="square" rtlCol="0">
            <a:spAutoFit/>
          </a:bodyPr>
          <a:lstStyle/>
          <a:p>
            <a:r>
              <a:rPr lang="en-US" b="1" dirty="0"/>
              <a:t>Model Diagnostics and Top Numerical Prediction:</a:t>
            </a:r>
          </a:p>
        </p:txBody>
      </p:sp>
      <p:sp>
        <p:nvSpPr>
          <p:cNvPr id="17" name="TextBox 16">
            <a:extLst>
              <a:ext uri="{FF2B5EF4-FFF2-40B4-BE49-F238E27FC236}">
                <a16:creationId xmlns:a16="http://schemas.microsoft.com/office/drawing/2014/main" id="{9B6F0A0D-A6FA-6B5D-ECC6-949513519A59}"/>
              </a:ext>
            </a:extLst>
          </p:cNvPr>
          <p:cNvSpPr txBox="1"/>
          <p:nvPr/>
        </p:nvSpPr>
        <p:spPr>
          <a:xfrm>
            <a:off x="6663559" y="1397876"/>
            <a:ext cx="4162096" cy="369332"/>
          </a:xfrm>
          <a:prstGeom prst="rect">
            <a:avLst/>
          </a:prstGeom>
          <a:noFill/>
        </p:spPr>
        <p:txBody>
          <a:bodyPr wrap="square" rtlCol="0">
            <a:spAutoFit/>
          </a:bodyPr>
          <a:lstStyle/>
          <a:p>
            <a:r>
              <a:rPr lang="en-US" b="1" dirty="0"/>
              <a:t>Prediction:</a:t>
            </a:r>
          </a:p>
        </p:txBody>
      </p:sp>
      <p:pic>
        <p:nvPicPr>
          <p:cNvPr id="7" name="Picture 6" descr="A group of graphs with blue lines&#10;&#10;AI-generated content may be incorrect.">
            <a:extLst>
              <a:ext uri="{FF2B5EF4-FFF2-40B4-BE49-F238E27FC236}">
                <a16:creationId xmlns:a16="http://schemas.microsoft.com/office/drawing/2014/main" id="{1255D234-E69A-5FEF-F059-FCCD44DF0B10}"/>
              </a:ext>
            </a:extLst>
          </p:cNvPr>
          <p:cNvPicPr>
            <a:picLocks noChangeAspect="1"/>
          </p:cNvPicPr>
          <p:nvPr/>
        </p:nvPicPr>
        <p:blipFill>
          <a:blip r:embed="rId2"/>
          <a:stretch>
            <a:fillRect/>
          </a:stretch>
        </p:blipFill>
        <p:spPr>
          <a:xfrm>
            <a:off x="201449" y="1178629"/>
            <a:ext cx="6293944" cy="4696654"/>
          </a:xfrm>
          <a:prstGeom prst="rect">
            <a:avLst/>
          </a:prstGeom>
        </p:spPr>
      </p:pic>
      <p:pic>
        <p:nvPicPr>
          <p:cNvPr id="12" name="Picture 11" descr="A graph showing a diagram of a disease&#10;&#10;AI-generated content may be incorrect.">
            <a:extLst>
              <a:ext uri="{FF2B5EF4-FFF2-40B4-BE49-F238E27FC236}">
                <a16:creationId xmlns:a16="http://schemas.microsoft.com/office/drawing/2014/main" id="{EE039975-E439-331D-F1E9-1CC1CC7A656B}"/>
              </a:ext>
            </a:extLst>
          </p:cNvPr>
          <p:cNvPicPr>
            <a:picLocks noChangeAspect="1"/>
          </p:cNvPicPr>
          <p:nvPr/>
        </p:nvPicPr>
        <p:blipFill>
          <a:blip r:embed="rId3"/>
          <a:stretch>
            <a:fillRect/>
          </a:stretch>
        </p:blipFill>
        <p:spPr>
          <a:xfrm>
            <a:off x="6606626" y="1986454"/>
            <a:ext cx="5383925" cy="3692917"/>
          </a:xfrm>
          <a:prstGeom prst="rect">
            <a:avLst/>
          </a:prstGeom>
        </p:spPr>
      </p:pic>
    </p:spTree>
    <p:extLst>
      <p:ext uri="{BB962C8B-B14F-4D97-AF65-F5344CB8AC3E}">
        <p14:creationId xmlns:p14="http://schemas.microsoft.com/office/powerpoint/2010/main" val="1714556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E794C-806A-7029-FF60-9A58F2F91F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692126-CD03-7005-5BC7-E28CE649CA1E}"/>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D6FFF50F-9061-4DA5-BBDA-D57AB84E0BA8}"/>
              </a:ext>
            </a:extLst>
          </p:cNvPr>
          <p:cNvSpPr/>
          <p:nvPr/>
        </p:nvSpPr>
        <p:spPr>
          <a:xfrm>
            <a:off x="0" y="6122276"/>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D938E83-90D9-B316-772F-33F749F69774}"/>
              </a:ext>
            </a:extLst>
          </p:cNvPr>
          <p:cNvSpPr txBox="1"/>
          <p:nvPr/>
        </p:nvSpPr>
        <p:spPr>
          <a:xfrm>
            <a:off x="325821" y="809297"/>
            <a:ext cx="9848193" cy="646331"/>
          </a:xfrm>
          <a:prstGeom prst="rect">
            <a:avLst/>
          </a:prstGeom>
          <a:noFill/>
        </p:spPr>
        <p:txBody>
          <a:bodyPr wrap="square" rtlCol="0">
            <a:spAutoFit/>
          </a:bodyPr>
          <a:lstStyle/>
          <a:p>
            <a:r>
              <a:rPr lang="en-US" b="1" dirty="0"/>
              <a:t>Project II: Comparative Analysis of Logistic Regression and Random Forest Models for Predicting Breast Cancer Survival Status: Evidence from the METABRIC Dataset</a:t>
            </a:r>
          </a:p>
        </p:txBody>
      </p:sp>
      <p:sp>
        <p:nvSpPr>
          <p:cNvPr id="2" name="Rectangle 1">
            <a:extLst>
              <a:ext uri="{FF2B5EF4-FFF2-40B4-BE49-F238E27FC236}">
                <a16:creationId xmlns:a16="http://schemas.microsoft.com/office/drawing/2014/main" id="{74A8083F-CA3F-6F33-16D2-8683EE0D8B3C}"/>
              </a:ext>
            </a:extLst>
          </p:cNvPr>
          <p:cNvSpPr/>
          <p:nvPr/>
        </p:nvSpPr>
        <p:spPr>
          <a:xfrm>
            <a:off x="325822" y="1529201"/>
            <a:ext cx="5843752" cy="4356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Abstract:</a:t>
            </a:r>
          </a:p>
          <a:p>
            <a:pPr algn="ctr"/>
            <a:r>
              <a:rPr lang="en-US" sz="1600" dirty="0">
                <a:latin typeface="Times New Roman" panose="02020603050405020304" pitchFamily="18" charset="0"/>
                <a:cs typeface="Times New Roman" panose="02020603050405020304" pitchFamily="18" charset="0"/>
              </a:rPr>
              <a:t>Accurate prediction of breast cancer survival outcomes is critical for guiding clinical decision-making and improving patient care. This study compares the performance of two supervised learning algorithms—Logistic Regression and Random Forest—using the METABRIC breast cancer dataset. Logistic Regression, a linear classifier commonly used for clinical interpretation, achieved limited predictive performance, with an accuracy of 31%, low sensitivity, and a negative Kappa statistic, indicating poor agreement beyond chance. These results suggest that the linear decision boundary inherent to logistic regression is insufficient for modeling the complex, nonlinear relationships typical in high-dimensional biomedical data. In contrast, the Random Forest classifier demonstrated substantially stronger predictive capacity, achieving an accuracy of 70%, sensitivity of 78%, and improved specificity. Its higher balanced accuracy and positive Kappa statistic highlight its robustness in capturing nonlinear interactions and heterogeneous patient patterns present in the dataset. </a:t>
            </a:r>
          </a:p>
        </p:txBody>
      </p:sp>
      <p:sp>
        <p:nvSpPr>
          <p:cNvPr id="3" name="Rectangle 2">
            <a:extLst>
              <a:ext uri="{FF2B5EF4-FFF2-40B4-BE49-F238E27FC236}">
                <a16:creationId xmlns:a16="http://schemas.microsoft.com/office/drawing/2014/main" id="{EF197F0B-8E9C-8950-90F2-CCE35D5B8E9F}"/>
              </a:ext>
            </a:extLst>
          </p:cNvPr>
          <p:cNvSpPr/>
          <p:nvPr/>
        </p:nvSpPr>
        <p:spPr>
          <a:xfrm>
            <a:off x="6348248" y="1529201"/>
            <a:ext cx="5843752" cy="4356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Aim: </a:t>
            </a:r>
            <a:r>
              <a:rPr lang="en-US" dirty="0">
                <a:latin typeface="Times New Roman" panose="02020603050405020304" pitchFamily="18" charset="0"/>
                <a:cs typeface="Times New Roman" panose="02020603050405020304" pitchFamily="18" charset="0"/>
              </a:rPr>
              <a:t>To develop and compare Logistic Regression and Random Forest classification models for predicting breast-cancer survival status using clinically and molecularly relevant variables from the METABRIC dataset.</a:t>
            </a:r>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Objectives</a:t>
            </a:r>
          </a:p>
          <a:p>
            <a:pPr algn="ctr"/>
            <a:r>
              <a:rPr lang="en-US" dirty="0">
                <a:latin typeface="Times New Roman" panose="02020603050405020304" pitchFamily="18" charset="0"/>
                <a:cs typeface="Times New Roman" panose="02020603050405020304" pitchFamily="18" charset="0"/>
              </a:rPr>
              <a:t>- Identify and select clinically relevant predictors of overall survival status from the METABRIC dataset.</a:t>
            </a:r>
          </a:p>
          <a:p>
            <a:pPr algn="ctr"/>
            <a:r>
              <a:rPr lang="en-US" dirty="0">
                <a:latin typeface="Times New Roman" panose="02020603050405020304" pitchFamily="18" charset="0"/>
                <a:cs typeface="Times New Roman" panose="02020603050405020304" pitchFamily="18" charset="0"/>
              </a:rPr>
              <a:t>- Develop a Logistic Regression model to estimate the probability of patient survival outcomes.</a:t>
            </a:r>
          </a:p>
          <a:p>
            <a:pPr algn="ctr"/>
            <a:r>
              <a:rPr lang="en-US" dirty="0">
                <a:latin typeface="Times New Roman" panose="02020603050405020304" pitchFamily="18" charset="0"/>
                <a:cs typeface="Times New Roman" panose="02020603050405020304" pitchFamily="18" charset="0"/>
              </a:rPr>
              <a:t>- Develop a Random Forest model to evaluate nonlinear relationships and improve predictive accuracy.</a:t>
            </a:r>
          </a:p>
          <a:p>
            <a:pPr algn="ctr"/>
            <a:r>
              <a:rPr lang="en-US" dirty="0">
                <a:latin typeface="Times New Roman" panose="02020603050405020304" pitchFamily="18" charset="0"/>
                <a:cs typeface="Times New Roman" panose="02020603050405020304" pitchFamily="18" charset="0"/>
              </a:rPr>
              <a:t>- Compare both models based on key performance metrics such as Accuracy, AUC, and Confusion Matrix results.</a:t>
            </a:r>
          </a:p>
          <a:p>
            <a:pPr algn="ctr"/>
            <a:r>
              <a:rPr lang="en-US" dirty="0">
                <a:latin typeface="Times New Roman" panose="02020603050405020304" pitchFamily="18" charset="0"/>
                <a:cs typeface="Times New Roman" panose="02020603050405020304" pitchFamily="18" charset="0"/>
              </a:rPr>
              <a:t>- Interpret the findings in the context of clinical relevance and discuss implications for breast-cancer prognosis and treatment decision-making.</a:t>
            </a:r>
          </a:p>
        </p:txBody>
      </p:sp>
    </p:spTree>
    <p:extLst>
      <p:ext uri="{BB962C8B-B14F-4D97-AF65-F5344CB8AC3E}">
        <p14:creationId xmlns:p14="http://schemas.microsoft.com/office/powerpoint/2010/main" val="1033310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E4DC5-C7A2-AC55-7590-2BF522DC21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73C401A-B16D-9D0E-E0ED-FEE0377C3FBA}"/>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CCE531E-232D-049B-4B55-304E650457BC}"/>
              </a:ext>
            </a:extLst>
          </p:cNvPr>
          <p:cNvSpPr/>
          <p:nvPr/>
        </p:nvSpPr>
        <p:spPr>
          <a:xfrm>
            <a:off x="0" y="6122276"/>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process&#10;&#10;AI-generated content may be incorrect.">
            <a:extLst>
              <a:ext uri="{FF2B5EF4-FFF2-40B4-BE49-F238E27FC236}">
                <a16:creationId xmlns:a16="http://schemas.microsoft.com/office/drawing/2014/main" id="{4A50421A-579F-484B-4093-310B28BEFB74}"/>
              </a:ext>
            </a:extLst>
          </p:cNvPr>
          <p:cNvPicPr>
            <a:picLocks noChangeAspect="1"/>
          </p:cNvPicPr>
          <p:nvPr/>
        </p:nvPicPr>
        <p:blipFill>
          <a:blip r:embed="rId2"/>
          <a:stretch>
            <a:fillRect/>
          </a:stretch>
        </p:blipFill>
        <p:spPr>
          <a:xfrm>
            <a:off x="115615" y="851338"/>
            <a:ext cx="3352800" cy="5192109"/>
          </a:xfrm>
          <a:prstGeom prst="rect">
            <a:avLst/>
          </a:prstGeom>
        </p:spPr>
      </p:pic>
      <p:sp>
        <p:nvSpPr>
          <p:cNvPr id="7" name="TextBox 6">
            <a:extLst>
              <a:ext uri="{FF2B5EF4-FFF2-40B4-BE49-F238E27FC236}">
                <a16:creationId xmlns:a16="http://schemas.microsoft.com/office/drawing/2014/main" id="{7A602C7C-7210-C6FA-4968-EF0598042E5F}"/>
              </a:ext>
            </a:extLst>
          </p:cNvPr>
          <p:cNvSpPr txBox="1"/>
          <p:nvPr/>
        </p:nvSpPr>
        <p:spPr>
          <a:xfrm>
            <a:off x="3668110" y="977462"/>
            <a:ext cx="7672552" cy="646331"/>
          </a:xfrm>
          <a:prstGeom prst="rect">
            <a:avLst/>
          </a:prstGeom>
          <a:noFill/>
        </p:spPr>
        <p:txBody>
          <a:bodyPr wrap="square" rtlCol="0">
            <a:spAutoFit/>
          </a:bodyPr>
          <a:lstStyle/>
          <a:p>
            <a:r>
              <a:rPr lang="en-US" dirty="0"/>
              <a:t>logit(pᵢ) = </a:t>
            </a:r>
            <a:r>
              <a:rPr lang="el-GR" dirty="0"/>
              <a:t>β₀ + β₁(</a:t>
            </a:r>
            <a:r>
              <a:rPr lang="en-US" dirty="0"/>
              <a:t>Age) + </a:t>
            </a:r>
            <a:r>
              <a:rPr lang="el-GR" dirty="0"/>
              <a:t>β₂(</a:t>
            </a:r>
            <a:r>
              <a:rPr lang="en-US" dirty="0"/>
              <a:t>Tumor Size) + </a:t>
            </a:r>
            <a:r>
              <a:rPr lang="el-GR" dirty="0"/>
              <a:t>β₃(</a:t>
            </a:r>
            <a:r>
              <a:rPr lang="en-US" dirty="0"/>
              <a:t>Lymph Nodes+) + </a:t>
            </a:r>
            <a:r>
              <a:rPr lang="el-GR" dirty="0"/>
              <a:t>β₄(</a:t>
            </a:r>
            <a:r>
              <a:rPr lang="en-US" dirty="0"/>
              <a:t>ER) + </a:t>
            </a:r>
            <a:r>
              <a:rPr lang="el-GR" dirty="0"/>
              <a:t>β₅(</a:t>
            </a:r>
            <a:r>
              <a:rPr lang="en-US" dirty="0"/>
              <a:t>HER2) + </a:t>
            </a:r>
            <a:r>
              <a:rPr lang="el-GR" dirty="0"/>
              <a:t>β₆(</a:t>
            </a:r>
            <a:r>
              <a:rPr lang="en-US" dirty="0"/>
              <a:t>Chemo) + </a:t>
            </a:r>
            <a:r>
              <a:rPr lang="el-GR" dirty="0"/>
              <a:t>β₇(</a:t>
            </a:r>
            <a:r>
              <a:rPr lang="en-US" dirty="0"/>
              <a:t>Hormone Tx)</a:t>
            </a:r>
          </a:p>
        </p:txBody>
      </p:sp>
      <p:sp>
        <p:nvSpPr>
          <p:cNvPr id="8" name="TextBox 7">
            <a:extLst>
              <a:ext uri="{FF2B5EF4-FFF2-40B4-BE49-F238E27FC236}">
                <a16:creationId xmlns:a16="http://schemas.microsoft.com/office/drawing/2014/main" id="{4D1C299C-DC5C-D157-0C28-CCA97D1D4D4C}"/>
              </a:ext>
            </a:extLst>
          </p:cNvPr>
          <p:cNvSpPr txBox="1"/>
          <p:nvPr/>
        </p:nvSpPr>
        <p:spPr>
          <a:xfrm>
            <a:off x="3951890" y="1860331"/>
            <a:ext cx="2753710" cy="369332"/>
          </a:xfrm>
          <a:prstGeom prst="rect">
            <a:avLst/>
          </a:prstGeom>
          <a:noFill/>
        </p:spPr>
        <p:txBody>
          <a:bodyPr wrap="square" rtlCol="0">
            <a:spAutoFit/>
          </a:bodyPr>
          <a:lstStyle/>
          <a:p>
            <a:r>
              <a:rPr lang="en-US" b="1" dirty="0"/>
              <a:t>Logistic Model Result:</a:t>
            </a:r>
          </a:p>
        </p:txBody>
      </p:sp>
      <p:pic>
        <p:nvPicPr>
          <p:cNvPr id="11" name="Picture 10" descr="A table with numbers and a list of data&#10;&#10;AI-generated content may be incorrect.">
            <a:extLst>
              <a:ext uri="{FF2B5EF4-FFF2-40B4-BE49-F238E27FC236}">
                <a16:creationId xmlns:a16="http://schemas.microsoft.com/office/drawing/2014/main" id="{53DB1EEE-7BA1-9C0E-9E6F-607B01992ABA}"/>
              </a:ext>
            </a:extLst>
          </p:cNvPr>
          <p:cNvPicPr>
            <a:picLocks noChangeAspect="1"/>
          </p:cNvPicPr>
          <p:nvPr/>
        </p:nvPicPr>
        <p:blipFill>
          <a:blip r:embed="rId3"/>
          <a:stretch>
            <a:fillRect/>
          </a:stretch>
        </p:blipFill>
        <p:spPr>
          <a:xfrm>
            <a:off x="3668110" y="2257824"/>
            <a:ext cx="7772400" cy="3825037"/>
          </a:xfrm>
          <a:prstGeom prst="rect">
            <a:avLst/>
          </a:prstGeom>
        </p:spPr>
      </p:pic>
    </p:spTree>
    <p:extLst>
      <p:ext uri="{BB962C8B-B14F-4D97-AF65-F5344CB8AC3E}">
        <p14:creationId xmlns:p14="http://schemas.microsoft.com/office/powerpoint/2010/main" val="604325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A39C8-2172-9BE5-2C6A-57FF01195E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5B8C6B9-05E0-62B7-DAC5-1333A4772DD3}"/>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E728A9E-61EE-9D27-5DE6-8DCACEB9EF73}"/>
              </a:ext>
            </a:extLst>
          </p:cNvPr>
          <p:cNvSpPr/>
          <p:nvPr/>
        </p:nvSpPr>
        <p:spPr>
          <a:xfrm>
            <a:off x="0" y="6122276"/>
            <a:ext cx="12192000" cy="735724"/>
          </a:xfrm>
          <a:prstGeom prst="rect">
            <a:avLst/>
          </a:prstGeom>
          <a:solidFill>
            <a:schemeClr val="tx2">
              <a:lumMod val="90000"/>
              <a:lumOff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ue squares with black text&#10;&#10;AI-generated content may be incorrect.">
            <a:extLst>
              <a:ext uri="{FF2B5EF4-FFF2-40B4-BE49-F238E27FC236}">
                <a16:creationId xmlns:a16="http://schemas.microsoft.com/office/drawing/2014/main" id="{0D163177-25A3-1DBB-B011-A5FAEE13DDE4}"/>
              </a:ext>
            </a:extLst>
          </p:cNvPr>
          <p:cNvPicPr>
            <a:picLocks noChangeAspect="1"/>
          </p:cNvPicPr>
          <p:nvPr/>
        </p:nvPicPr>
        <p:blipFill>
          <a:blip r:embed="rId2"/>
          <a:stretch>
            <a:fillRect/>
          </a:stretch>
        </p:blipFill>
        <p:spPr>
          <a:xfrm>
            <a:off x="116173" y="840829"/>
            <a:ext cx="6053399" cy="4529958"/>
          </a:xfrm>
          <a:prstGeom prst="rect">
            <a:avLst/>
          </a:prstGeom>
          <a:ln>
            <a:solidFill>
              <a:schemeClr val="tx1"/>
            </a:solidFill>
          </a:ln>
        </p:spPr>
      </p:pic>
      <p:pic>
        <p:nvPicPr>
          <p:cNvPr id="10" name="Picture 9" descr="A graph of a logistic regression&#10;&#10;AI-generated content may be incorrect.">
            <a:extLst>
              <a:ext uri="{FF2B5EF4-FFF2-40B4-BE49-F238E27FC236}">
                <a16:creationId xmlns:a16="http://schemas.microsoft.com/office/drawing/2014/main" id="{9EB4C04A-272F-E45A-FAE1-707DD25AF6E3}"/>
              </a:ext>
            </a:extLst>
          </p:cNvPr>
          <p:cNvPicPr>
            <a:picLocks noChangeAspect="1"/>
          </p:cNvPicPr>
          <p:nvPr/>
        </p:nvPicPr>
        <p:blipFill>
          <a:blip r:embed="rId3"/>
          <a:stretch>
            <a:fillRect/>
          </a:stretch>
        </p:blipFill>
        <p:spPr>
          <a:xfrm>
            <a:off x="6306207" y="840829"/>
            <a:ext cx="5468028" cy="4529958"/>
          </a:xfrm>
          <a:prstGeom prst="rect">
            <a:avLst/>
          </a:prstGeom>
        </p:spPr>
      </p:pic>
      <p:sp>
        <p:nvSpPr>
          <p:cNvPr id="12" name="TextBox 11">
            <a:extLst>
              <a:ext uri="{FF2B5EF4-FFF2-40B4-BE49-F238E27FC236}">
                <a16:creationId xmlns:a16="http://schemas.microsoft.com/office/drawing/2014/main" id="{D4371329-DDEF-7C4D-E323-27E2F63911DB}"/>
              </a:ext>
            </a:extLst>
          </p:cNvPr>
          <p:cNvSpPr txBox="1"/>
          <p:nvPr/>
        </p:nvSpPr>
        <p:spPr>
          <a:xfrm>
            <a:off x="367862" y="5517931"/>
            <a:ext cx="4950372" cy="553998"/>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 Accuracy: 30.9%, Sensitivity (Detecting DECEASED): 22.1%</a:t>
            </a:r>
          </a:p>
          <a:p>
            <a:r>
              <a:rPr lang="en-US" sz="1000" dirty="0">
                <a:latin typeface="Times New Roman" panose="02020603050405020304" pitchFamily="18" charset="0"/>
                <a:cs typeface="Times New Roman" panose="02020603050405020304" pitchFamily="18" charset="0"/>
              </a:rPr>
              <a:t>- Specificity (Detecting LIVING): 42.9%</a:t>
            </a:r>
          </a:p>
          <a:p>
            <a:r>
              <a:rPr lang="en-US" sz="1000" dirty="0">
                <a:latin typeface="Times New Roman" panose="02020603050405020304" pitchFamily="18" charset="0"/>
                <a:cs typeface="Times New Roman" panose="02020603050405020304" pitchFamily="18" charset="0"/>
              </a:rPr>
              <a:t>- Balanced Accuracy: 32.5%</a:t>
            </a:r>
          </a:p>
        </p:txBody>
      </p:sp>
    </p:spTree>
    <p:extLst>
      <p:ext uri="{BB962C8B-B14F-4D97-AF65-F5344CB8AC3E}">
        <p14:creationId xmlns:p14="http://schemas.microsoft.com/office/powerpoint/2010/main" val="3706773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003B6-FC4C-4802-9C16-64BE38CA137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572DC47-72FE-768C-F037-469D18EF8F84}"/>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DCBB9048-182A-7806-3310-3619DCE40D9F}"/>
              </a:ext>
            </a:extLst>
          </p:cNvPr>
          <p:cNvSpPr/>
          <p:nvPr/>
        </p:nvSpPr>
        <p:spPr>
          <a:xfrm>
            <a:off x="0" y="6122276"/>
            <a:ext cx="12192000" cy="735724"/>
          </a:xfrm>
          <a:prstGeom prst="rect">
            <a:avLst/>
          </a:prstGeom>
          <a:solidFill>
            <a:schemeClr val="tx2">
              <a:lumMod val="90000"/>
              <a:lumOff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5F924D1-455F-232F-9E60-FE7AC98A9D1C}"/>
              </a:ext>
            </a:extLst>
          </p:cNvPr>
          <p:cNvSpPr txBox="1"/>
          <p:nvPr/>
        </p:nvSpPr>
        <p:spPr>
          <a:xfrm>
            <a:off x="0" y="735724"/>
            <a:ext cx="4424855" cy="369332"/>
          </a:xfrm>
          <a:prstGeom prst="rect">
            <a:avLst/>
          </a:prstGeom>
          <a:noFill/>
        </p:spPr>
        <p:txBody>
          <a:bodyPr wrap="square" rtlCol="0">
            <a:spAutoFit/>
          </a:bodyPr>
          <a:lstStyle/>
          <a:p>
            <a:r>
              <a:rPr lang="en-US" b="1" dirty="0"/>
              <a:t>Random Forest Classifier:</a:t>
            </a:r>
          </a:p>
        </p:txBody>
      </p:sp>
      <p:pic>
        <p:nvPicPr>
          <p:cNvPr id="7" name="Picture 6" descr="A screenshot of a computer&#10;&#10;AI-generated content may be incorrect.">
            <a:extLst>
              <a:ext uri="{FF2B5EF4-FFF2-40B4-BE49-F238E27FC236}">
                <a16:creationId xmlns:a16="http://schemas.microsoft.com/office/drawing/2014/main" id="{A4E294C7-D119-AF8B-DB9A-0D4402E81664}"/>
              </a:ext>
            </a:extLst>
          </p:cNvPr>
          <p:cNvPicPr>
            <a:picLocks noChangeAspect="1"/>
          </p:cNvPicPr>
          <p:nvPr/>
        </p:nvPicPr>
        <p:blipFill>
          <a:blip r:embed="rId2"/>
          <a:stretch>
            <a:fillRect/>
          </a:stretch>
        </p:blipFill>
        <p:spPr>
          <a:xfrm>
            <a:off x="148678" y="1244318"/>
            <a:ext cx="5947322" cy="4738696"/>
          </a:xfrm>
          <a:prstGeom prst="rect">
            <a:avLst/>
          </a:prstGeom>
        </p:spPr>
      </p:pic>
      <p:pic>
        <p:nvPicPr>
          <p:cNvPr id="9" name="Picture 8" descr="A graph with a line&#10;&#10;AI-generated content may be incorrect.">
            <a:extLst>
              <a:ext uri="{FF2B5EF4-FFF2-40B4-BE49-F238E27FC236}">
                <a16:creationId xmlns:a16="http://schemas.microsoft.com/office/drawing/2014/main" id="{FBCD95F2-AF6A-D5E6-3732-E42AF6BF1CFD}"/>
              </a:ext>
            </a:extLst>
          </p:cNvPr>
          <p:cNvPicPr>
            <a:picLocks noChangeAspect="1"/>
          </p:cNvPicPr>
          <p:nvPr/>
        </p:nvPicPr>
        <p:blipFill>
          <a:blip r:embed="rId3"/>
          <a:stretch>
            <a:fillRect/>
          </a:stretch>
        </p:blipFill>
        <p:spPr>
          <a:xfrm>
            <a:off x="6096000" y="1244318"/>
            <a:ext cx="5947322" cy="4449803"/>
          </a:xfrm>
          <a:prstGeom prst="rect">
            <a:avLst/>
          </a:prstGeom>
        </p:spPr>
      </p:pic>
    </p:spTree>
    <p:extLst>
      <p:ext uri="{BB962C8B-B14F-4D97-AF65-F5344CB8AC3E}">
        <p14:creationId xmlns:p14="http://schemas.microsoft.com/office/powerpoint/2010/main" val="389456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DC34A-5CF7-F948-0873-7AC48BDBD88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0537A8A-4BDD-4C88-17F6-EFDDAEA8D7E2}"/>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86A61C7-E3FC-0D3A-4CF7-ED8FADC00A8D}"/>
              </a:ext>
            </a:extLst>
          </p:cNvPr>
          <p:cNvSpPr/>
          <p:nvPr/>
        </p:nvSpPr>
        <p:spPr>
          <a:xfrm>
            <a:off x="0" y="6122276"/>
            <a:ext cx="12192000" cy="735724"/>
          </a:xfrm>
          <a:prstGeom prst="rect">
            <a:avLst/>
          </a:prstGeom>
          <a:solidFill>
            <a:schemeClr val="tx2">
              <a:lumMod val="90000"/>
              <a:lumOff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purple squares with white text&#10;&#10;AI-generated content may be incorrect.">
            <a:extLst>
              <a:ext uri="{FF2B5EF4-FFF2-40B4-BE49-F238E27FC236}">
                <a16:creationId xmlns:a16="http://schemas.microsoft.com/office/drawing/2014/main" id="{DF5F62A9-9770-68A5-0D51-45551E061CD4}"/>
              </a:ext>
            </a:extLst>
          </p:cNvPr>
          <p:cNvPicPr>
            <a:picLocks noChangeAspect="1"/>
          </p:cNvPicPr>
          <p:nvPr/>
        </p:nvPicPr>
        <p:blipFill>
          <a:blip r:embed="rId2"/>
          <a:stretch>
            <a:fillRect/>
          </a:stretch>
        </p:blipFill>
        <p:spPr>
          <a:xfrm>
            <a:off x="189701" y="809296"/>
            <a:ext cx="5454354" cy="4288221"/>
          </a:xfrm>
          <a:prstGeom prst="rect">
            <a:avLst/>
          </a:prstGeom>
        </p:spPr>
      </p:pic>
      <p:pic>
        <p:nvPicPr>
          <p:cNvPr id="10" name="Picture 9" descr="A graph of a forest&#10;&#10;AI-generated content may be incorrect.">
            <a:extLst>
              <a:ext uri="{FF2B5EF4-FFF2-40B4-BE49-F238E27FC236}">
                <a16:creationId xmlns:a16="http://schemas.microsoft.com/office/drawing/2014/main" id="{41A15D90-391D-51D7-A900-C0BF1C8A5AFE}"/>
              </a:ext>
            </a:extLst>
          </p:cNvPr>
          <p:cNvPicPr>
            <a:picLocks noChangeAspect="1"/>
          </p:cNvPicPr>
          <p:nvPr/>
        </p:nvPicPr>
        <p:blipFill>
          <a:blip r:embed="rId3"/>
          <a:stretch>
            <a:fillRect/>
          </a:stretch>
        </p:blipFill>
        <p:spPr>
          <a:xfrm>
            <a:off x="6180082" y="884678"/>
            <a:ext cx="5649643" cy="4212840"/>
          </a:xfrm>
          <a:prstGeom prst="rect">
            <a:avLst/>
          </a:prstGeom>
        </p:spPr>
      </p:pic>
      <p:sp>
        <p:nvSpPr>
          <p:cNvPr id="11" name="TextBox 10">
            <a:extLst>
              <a:ext uri="{FF2B5EF4-FFF2-40B4-BE49-F238E27FC236}">
                <a16:creationId xmlns:a16="http://schemas.microsoft.com/office/drawing/2014/main" id="{BC9A0307-0028-9E68-B1D8-661FEED93298}"/>
              </a:ext>
            </a:extLst>
          </p:cNvPr>
          <p:cNvSpPr txBox="1"/>
          <p:nvPr/>
        </p:nvSpPr>
        <p:spPr>
          <a:xfrm>
            <a:off x="189701" y="5213131"/>
            <a:ext cx="5454354" cy="707886"/>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 Accuracy: 70.2%</a:t>
            </a:r>
          </a:p>
          <a:p>
            <a:r>
              <a:rPr lang="en-US" sz="1000" dirty="0">
                <a:latin typeface="Times New Roman" panose="02020603050405020304" pitchFamily="18" charset="0"/>
                <a:cs typeface="Times New Roman" panose="02020603050405020304" pitchFamily="18" charset="0"/>
              </a:rPr>
              <a:t>- Sensitivity (Detecting DECEASED): 77.9%</a:t>
            </a:r>
          </a:p>
          <a:p>
            <a:r>
              <a:rPr lang="en-US" sz="1000" dirty="0">
                <a:latin typeface="Times New Roman" panose="02020603050405020304" pitchFamily="18" charset="0"/>
                <a:cs typeface="Times New Roman" panose="02020603050405020304" pitchFamily="18" charset="0"/>
              </a:rPr>
              <a:t>- Specificity (Detecting LIVING): 59.7%</a:t>
            </a:r>
          </a:p>
          <a:p>
            <a:r>
              <a:rPr lang="en-US" sz="1000" dirty="0">
                <a:latin typeface="Times New Roman" panose="02020603050405020304" pitchFamily="18" charset="0"/>
                <a:cs typeface="Times New Roman" panose="02020603050405020304" pitchFamily="18" charset="0"/>
              </a:rPr>
              <a:t>- Balanced Accuracy: 68.8%</a:t>
            </a:r>
          </a:p>
        </p:txBody>
      </p:sp>
      <p:sp>
        <p:nvSpPr>
          <p:cNvPr id="12" name="TextBox 11">
            <a:extLst>
              <a:ext uri="{FF2B5EF4-FFF2-40B4-BE49-F238E27FC236}">
                <a16:creationId xmlns:a16="http://schemas.microsoft.com/office/drawing/2014/main" id="{B0BD28B8-287E-C0EB-9063-7D2D66F441EB}"/>
              </a:ext>
            </a:extLst>
          </p:cNvPr>
          <p:cNvSpPr txBox="1"/>
          <p:nvPr/>
        </p:nvSpPr>
        <p:spPr>
          <a:xfrm>
            <a:off x="6442841" y="5213131"/>
            <a:ext cx="3731173"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Area under the curve: 0.2611</a:t>
            </a:r>
          </a:p>
        </p:txBody>
      </p:sp>
    </p:spTree>
    <p:extLst>
      <p:ext uri="{BB962C8B-B14F-4D97-AF65-F5344CB8AC3E}">
        <p14:creationId xmlns:p14="http://schemas.microsoft.com/office/powerpoint/2010/main" val="498281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72B3-2738-CEBF-94D1-0E413A4800D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C78AA93-FA47-445A-1FC6-26146DFDE060}"/>
              </a:ext>
            </a:extLst>
          </p:cNvPr>
          <p:cNvSpPr/>
          <p:nvPr/>
        </p:nvSpPr>
        <p:spPr>
          <a:xfrm>
            <a:off x="0" y="0"/>
            <a:ext cx="12192000" cy="735724"/>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3F28818-9527-C8A0-8D1B-4F6B26EC779B}"/>
              </a:ext>
            </a:extLst>
          </p:cNvPr>
          <p:cNvSpPr/>
          <p:nvPr/>
        </p:nvSpPr>
        <p:spPr>
          <a:xfrm>
            <a:off x="0" y="6122276"/>
            <a:ext cx="12192000" cy="735724"/>
          </a:xfrm>
          <a:prstGeom prst="rect">
            <a:avLst/>
          </a:prstGeom>
          <a:solidFill>
            <a:schemeClr val="tx2">
              <a:lumMod val="90000"/>
              <a:lumOff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1C65D04-E3F2-7F1F-99A2-A4770D65372A}"/>
              </a:ext>
            </a:extLst>
          </p:cNvPr>
          <p:cNvSpPr txBox="1"/>
          <p:nvPr/>
        </p:nvSpPr>
        <p:spPr>
          <a:xfrm>
            <a:off x="252248" y="1019503"/>
            <a:ext cx="5150069" cy="369332"/>
          </a:xfrm>
          <a:prstGeom prst="rect">
            <a:avLst/>
          </a:prstGeom>
          <a:noFill/>
        </p:spPr>
        <p:txBody>
          <a:bodyPr wrap="square" rtlCol="0">
            <a:spAutoFit/>
          </a:bodyPr>
          <a:lstStyle/>
          <a:p>
            <a:r>
              <a:rPr lang="en-US" b="1" dirty="0"/>
              <a:t>Conclusion:</a:t>
            </a:r>
          </a:p>
        </p:txBody>
      </p:sp>
      <p:sp>
        <p:nvSpPr>
          <p:cNvPr id="3" name="Rectangle 2">
            <a:extLst>
              <a:ext uri="{FF2B5EF4-FFF2-40B4-BE49-F238E27FC236}">
                <a16:creationId xmlns:a16="http://schemas.microsoft.com/office/drawing/2014/main" id="{6E5F535A-0AA6-9D70-3D9D-116C41323EEA}"/>
              </a:ext>
            </a:extLst>
          </p:cNvPr>
          <p:cNvSpPr/>
          <p:nvPr/>
        </p:nvSpPr>
        <p:spPr>
          <a:xfrm>
            <a:off x="1702677" y="1595679"/>
            <a:ext cx="8555420" cy="4319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Based on the evaluation metrics, the Random Forest classifier clearly outperformed the logistic regression model in predicting breast cancer survival status in the METABRIC dataset. Logistic regression showed very low accuracy (31%), poor sensitivity, and a negative Kappa value, indicating that it struggled to correctly classify both deceased and living patients. This suggests that the linear decision boundary assumed by logistic regression is not sufficient to capture the complex, nonlinear patterns present in the clinical data.</a:t>
            </a:r>
          </a:p>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In contrast, the Random Forest model achieved a much higher accuracy (70%), with strong sensitivity (78%) and improved specificity (60%). Its balanced accuracy and Kappa values further demonstrate a substantially better fit. The model’s superior performance reflects its ability to account for nonlinear relationships and interactions among predictors—features that are common in biological and clinical datasets.</a:t>
            </a:r>
          </a:p>
        </p:txBody>
      </p:sp>
    </p:spTree>
    <p:extLst>
      <p:ext uri="{BB962C8B-B14F-4D97-AF65-F5344CB8AC3E}">
        <p14:creationId xmlns:p14="http://schemas.microsoft.com/office/powerpoint/2010/main" val="3556489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FBBF7-98CB-3C7B-0657-3ED24C0CCEB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1B82151-5AB6-A4F7-07C6-98490D211E3F}"/>
              </a:ext>
            </a:extLst>
          </p:cNvPr>
          <p:cNvSpPr/>
          <p:nvPr/>
        </p:nvSpPr>
        <p:spPr>
          <a:xfrm>
            <a:off x="0" y="0"/>
            <a:ext cx="12192000" cy="6858000"/>
          </a:xfrm>
          <a:prstGeom prst="rect">
            <a:avLst/>
          </a:prstGeom>
          <a:solidFill>
            <a:schemeClr val="tx2">
              <a:lumMod val="90000"/>
              <a:lumOff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847317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950</TotalTime>
  <Words>1197</Words>
  <Application>Microsoft Macintosh PowerPoint</Application>
  <PresentationFormat>Widescreen</PresentationFormat>
  <Paragraphs>47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Times New Roman</vt:lpstr>
      <vt:lpstr>Office Theme</vt:lpstr>
      <vt:lpstr>A Linear Regression Analysis of Predictors of Overall Survival Among Breast   Cancer Patients in the METABRIC Dataset</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Oluwafemi Olofin</dc:creator>
  <cp:lastModifiedBy>Daniel Oluwafemi Olofin</cp:lastModifiedBy>
  <cp:revision>2</cp:revision>
  <dcterms:created xsi:type="dcterms:W3CDTF">2025-11-17T01:24:11Z</dcterms:created>
  <dcterms:modified xsi:type="dcterms:W3CDTF">2025-11-22T20:36:24Z</dcterms:modified>
</cp:coreProperties>
</file>